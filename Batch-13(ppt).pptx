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1" r:id="rId3"/>
    <p:sldId id="257" r:id="rId4"/>
    <p:sldId id="269" r:id="rId5"/>
    <p:sldId id="282" r:id="rId6"/>
    <p:sldId id="261" r:id="rId7"/>
    <p:sldId id="268" r:id="rId8"/>
    <p:sldId id="271" r:id="rId9"/>
    <p:sldId id="272" r:id="rId10"/>
    <p:sldId id="283" r:id="rId11"/>
    <p:sldId id="273" r:id="rId12"/>
    <p:sldId id="274" r:id="rId13"/>
    <p:sldId id="276" r:id="rId14"/>
    <p:sldId id="277" r:id="rId15"/>
    <p:sldId id="278" r:id="rId16"/>
    <p:sldId id="279" r:id="rId17"/>
    <p:sldId id="28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7" autoAdjust="0"/>
    <p:restoredTop sz="86434" autoAdjust="0"/>
  </p:normalViewPr>
  <p:slideViewPr>
    <p:cSldViewPr snapToGrid="0">
      <p:cViewPr varScale="1">
        <p:scale>
          <a:sx n="29" d="100"/>
          <a:sy n="29" d="100"/>
        </p:scale>
        <p:origin x="724" y="44"/>
      </p:cViewPr>
      <p:guideLst/>
    </p:cSldViewPr>
  </p:slideViewPr>
  <p:outlineViewPr>
    <p:cViewPr>
      <p:scale>
        <a:sx n="33" d="100"/>
        <a:sy n="33" d="100"/>
      </p:scale>
      <p:origin x="0" y="-254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DC61F-0B37-AEED-B7F2-544E41D484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001B6C0-0D6A-D42A-C755-00245095E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AF4F86D-D54B-B42D-AF46-8DF1B4966253}"/>
              </a:ext>
            </a:extLst>
          </p:cNvPr>
          <p:cNvSpPr>
            <a:spLocks noGrp="1"/>
          </p:cNvSpPr>
          <p:nvPr>
            <p:ph type="dt" sz="half" idx="10"/>
          </p:nvPr>
        </p:nvSpPr>
        <p:spPr/>
        <p:txBody>
          <a:bodyPr/>
          <a:lstStyle/>
          <a:p>
            <a:fld id="{2B6B3804-C3CD-45F7-AC30-F33D53CFF88D}" type="datetimeFigureOut">
              <a:rPr lang="en-IN" smtClean="0"/>
              <a:t>14-11-2025</a:t>
            </a:fld>
            <a:endParaRPr lang="en-IN"/>
          </a:p>
        </p:txBody>
      </p:sp>
      <p:sp>
        <p:nvSpPr>
          <p:cNvPr id="5" name="Footer Placeholder 4">
            <a:extLst>
              <a:ext uri="{FF2B5EF4-FFF2-40B4-BE49-F238E27FC236}">
                <a16:creationId xmlns:a16="http://schemas.microsoft.com/office/drawing/2014/main" id="{219440EA-E464-6E57-4B32-74AF03A52D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566615-5C07-0405-5CBB-5984DD0DB393}"/>
              </a:ext>
            </a:extLst>
          </p:cNvPr>
          <p:cNvSpPr>
            <a:spLocks noGrp="1"/>
          </p:cNvSpPr>
          <p:nvPr>
            <p:ph type="sldNum" sz="quarter" idx="12"/>
          </p:nvPr>
        </p:nvSpPr>
        <p:spPr/>
        <p:txBody>
          <a:bodyPr/>
          <a:lstStyle/>
          <a:p>
            <a:fld id="{08E05600-DBAF-4D67-AAC1-8F60CBBFE5DA}" type="slidenum">
              <a:rPr lang="en-IN" smtClean="0"/>
              <a:t>‹#›</a:t>
            </a:fld>
            <a:endParaRPr lang="en-IN"/>
          </a:p>
        </p:txBody>
      </p:sp>
    </p:spTree>
    <p:extLst>
      <p:ext uri="{BB962C8B-B14F-4D97-AF65-F5344CB8AC3E}">
        <p14:creationId xmlns:p14="http://schemas.microsoft.com/office/powerpoint/2010/main" val="3885911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A31C6-DE5F-CF94-F3BC-F58DE1A5E86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A0FFD0E-C89C-EF4C-529C-215BE4090D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B95BBB-72E8-E274-C3BC-A5530D5A8F14}"/>
              </a:ext>
            </a:extLst>
          </p:cNvPr>
          <p:cNvSpPr>
            <a:spLocks noGrp="1"/>
          </p:cNvSpPr>
          <p:nvPr>
            <p:ph type="dt" sz="half" idx="10"/>
          </p:nvPr>
        </p:nvSpPr>
        <p:spPr/>
        <p:txBody>
          <a:bodyPr/>
          <a:lstStyle/>
          <a:p>
            <a:fld id="{2B6B3804-C3CD-45F7-AC30-F33D53CFF88D}" type="datetimeFigureOut">
              <a:rPr lang="en-IN" smtClean="0"/>
              <a:t>14-11-2025</a:t>
            </a:fld>
            <a:endParaRPr lang="en-IN"/>
          </a:p>
        </p:txBody>
      </p:sp>
      <p:sp>
        <p:nvSpPr>
          <p:cNvPr id="5" name="Footer Placeholder 4">
            <a:extLst>
              <a:ext uri="{FF2B5EF4-FFF2-40B4-BE49-F238E27FC236}">
                <a16:creationId xmlns:a16="http://schemas.microsoft.com/office/drawing/2014/main" id="{02E90414-BFBA-D662-9C19-03FB344666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A0F93D-2AA1-B19F-C8F4-C0308EA66021}"/>
              </a:ext>
            </a:extLst>
          </p:cNvPr>
          <p:cNvSpPr>
            <a:spLocks noGrp="1"/>
          </p:cNvSpPr>
          <p:nvPr>
            <p:ph type="sldNum" sz="quarter" idx="12"/>
          </p:nvPr>
        </p:nvSpPr>
        <p:spPr/>
        <p:txBody>
          <a:bodyPr/>
          <a:lstStyle/>
          <a:p>
            <a:fld id="{08E05600-DBAF-4D67-AAC1-8F60CBBFE5DA}" type="slidenum">
              <a:rPr lang="en-IN" smtClean="0"/>
              <a:t>‹#›</a:t>
            </a:fld>
            <a:endParaRPr lang="en-IN"/>
          </a:p>
        </p:txBody>
      </p:sp>
    </p:spTree>
    <p:extLst>
      <p:ext uri="{BB962C8B-B14F-4D97-AF65-F5344CB8AC3E}">
        <p14:creationId xmlns:p14="http://schemas.microsoft.com/office/powerpoint/2010/main" val="16952594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9DD5C-3E95-5A72-7A04-4533B47789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7172893-EC62-DE1B-502F-8918259918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61F6FD-2143-7296-6A0C-F5F015DEAED9}"/>
              </a:ext>
            </a:extLst>
          </p:cNvPr>
          <p:cNvSpPr>
            <a:spLocks noGrp="1"/>
          </p:cNvSpPr>
          <p:nvPr>
            <p:ph type="dt" sz="half" idx="10"/>
          </p:nvPr>
        </p:nvSpPr>
        <p:spPr/>
        <p:txBody>
          <a:bodyPr/>
          <a:lstStyle/>
          <a:p>
            <a:fld id="{2B6B3804-C3CD-45F7-AC30-F33D53CFF88D}" type="datetimeFigureOut">
              <a:rPr lang="en-IN" smtClean="0"/>
              <a:t>14-11-2025</a:t>
            </a:fld>
            <a:endParaRPr lang="en-IN"/>
          </a:p>
        </p:txBody>
      </p:sp>
      <p:sp>
        <p:nvSpPr>
          <p:cNvPr id="5" name="Footer Placeholder 4">
            <a:extLst>
              <a:ext uri="{FF2B5EF4-FFF2-40B4-BE49-F238E27FC236}">
                <a16:creationId xmlns:a16="http://schemas.microsoft.com/office/drawing/2014/main" id="{A5870002-35DC-C734-92E4-9BE2B45689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4EDC6F-C1EB-3FE9-BC99-AB1144B6DA2A}"/>
              </a:ext>
            </a:extLst>
          </p:cNvPr>
          <p:cNvSpPr>
            <a:spLocks noGrp="1"/>
          </p:cNvSpPr>
          <p:nvPr>
            <p:ph type="sldNum" sz="quarter" idx="12"/>
          </p:nvPr>
        </p:nvSpPr>
        <p:spPr/>
        <p:txBody>
          <a:bodyPr/>
          <a:lstStyle/>
          <a:p>
            <a:fld id="{08E05600-DBAF-4D67-AAC1-8F60CBBFE5DA}" type="slidenum">
              <a:rPr lang="en-IN" smtClean="0"/>
              <a:t>‹#›</a:t>
            </a:fld>
            <a:endParaRPr lang="en-IN"/>
          </a:p>
        </p:txBody>
      </p:sp>
    </p:spTree>
    <p:extLst>
      <p:ext uri="{BB962C8B-B14F-4D97-AF65-F5344CB8AC3E}">
        <p14:creationId xmlns:p14="http://schemas.microsoft.com/office/powerpoint/2010/main" val="2518712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3F4D4-D030-7219-602D-94E3892092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C6F068-B73A-EF0B-17D0-23585D3E38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159924F-370B-8223-13C4-60308E08E7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233DB63-5789-277A-42B2-41138C4EBBBA}"/>
              </a:ext>
            </a:extLst>
          </p:cNvPr>
          <p:cNvSpPr>
            <a:spLocks noGrp="1"/>
          </p:cNvSpPr>
          <p:nvPr>
            <p:ph type="dt" sz="half" idx="10"/>
          </p:nvPr>
        </p:nvSpPr>
        <p:spPr/>
        <p:txBody>
          <a:bodyPr/>
          <a:lstStyle/>
          <a:p>
            <a:fld id="{2B6B3804-C3CD-45F7-AC30-F33D53CFF88D}" type="datetimeFigureOut">
              <a:rPr lang="en-IN" smtClean="0"/>
              <a:t>14-11-2025</a:t>
            </a:fld>
            <a:endParaRPr lang="en-IN"/>
          </a:p>
        </p:txBody>
      </p:sp>
      <p:sp>
        <p:nvSpPr>
          <p:cNvPr id="6" name="Footer Placeholder 5">
            <a:extLst>
              <a:ext uri="{FF2B5EF4-FFF2-40B4-BE49-F238E27FC236}">
                <a16:creationId xmlns:a16="http://schemas.microsoft.com/office/drawing/2014/main" id="{E44F2A2A-9119-2547-F5E4-B982EB5D28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87873E-412D-C7CB-6830-5BDF276274E0}"/>
              </a:ext>
            </a:extLst>
          </p:cNvPr>
          <p:cNvSpPr>
            <a:spLocks noGrp="1"/>
          </p:cNvSpPr>
          <p:nvPr>
            <p:ph type="sldNum" sz="quarter" idx="12"/>
          </p:nvPr>
        </p:nvSpPr>
        <p:spPr/>
        <p:txBody>
          <a:bodyPr/>
          <a:lstStyle/>
          <a:p>
            <a:fld id="{08E05600-DBAF-4D67-AAC1-8F60CBBFE5DA}" type="slidenum">
              <a:rPr lang="en-IN" smtClean="0"/>
              <a:t>‹#›</a:t>
            </a:fld>
            <a:endParaRPr lang="en-IN"/>
          </a:p>
        </p:txBody>
      </p:sp>
    </p:spTree>
    <p:extLst>
      <p:ext uri="{BB962C8B-B14F-4D97-AF65-F5344CB8AC3E}">
        <p14:creationId xmlns:p14="http://schemas.microsoft.com/office/powerpoint/2010/main" val="2386304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5210D-019A-DC20-829D-A1EE5951A4D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BB2916-7819-B88C-ABEC-B439FA4D8E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AB3BEB-54E1-7DCE-8B0E-A8285DC5F7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A06162C-48B1-9E1D-97E9-784FB3AADC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CF5D92-BDF3-18CD-6315-542F3348622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99F8EC8-4ED7-4F9A-3B26-7FF55330DDD0}"/>
              </a:ext>
            </a:extLst>
          </p:cNvPr>
          <p:cNvSpPr>
            <a:spLocks noGrp="1"/>
          </p:cNvSpPr>
          <p:nvPr>
            <p:ph type="dt" sz="half" idx="10"/>
          </p:nvPr>
        </p:nvSpPr>
        <p:spPr/>
        <p:txBody>
          <a:bodyPr/>
          <a:lstStyle/>
          <a:p>
            <a:fld id="{2B6B3804-C3CD-45F7-AC30-F33D53CFF88D}" type="datetimeFigureOut">
              <a:rPr lang="en-IN" smtClean="0"/>
              <a:t>14-11-2025</a:t>
            </a:fld>
            <a:endParaRPr lang="en-IN"/>
          </a:p>
        </p:txBody>
      </p:sp>
      <p:sp>
        <p:nvSpPr>
          <p:cNvPr id="8" name="Footer Placeholder 7">
            <a:extLst>
              <a:ext uri="{FF2B5EF4-FFF2-40B4-BE49-F238E27FC236}">
                <a16:creationId xmlns:a16="http://schemas.microsoft.com/office/drawing/2014/main" id="{572E9079-3DC7-30C8-B97B-8ED1E8A9C60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D8ACACE-EFB4-8DC1-F1C7-1A2E4F955A92}"/>
              </a:ext>
            </a:extLst>
          </p:cNvPr>
          <p:cNvSpPr>
            <a:spLocks noGrp="1"/>
          </p:cNvSpPr>
          <p:nvPr>
            <p:ph type="sldNum" sz="quarter" idx="12"/>
          </p:nvPr>
        </p:nvSpPr>
        <p:spPr/>
        <p:txBody>
          <a:bodyPr/>
          <a:lstStyle/>
          <a:p>
            <a:fld id="{08E05600-DBAF-4D67-AAC1-8F60CBBFE5DA}" type="slidenum">
              <a:rPr lang="en-IN" smtClean="0"/>
              <a:t>‹#›</a:t>
            </a:fld>
            <a:endParaRPr lang="en-IN"/>
          </a:p>
        </p:txBody>
      </p:sp>
    </p:spTree>
    <p:extLst>
      <p:ext uri="{BB962C8B-B14F-4D97-AF65-F5344CB8AC3E}">
        <p14:creationId xmlns:p14="http://schemas.microsoft.com/office/powerpoint/2010/main" val="126004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76570-B1E1-D4D5-1725-3CCC028F6B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0B06884-F568-EE78-D98F-6C8EA583ABA9}"/>
              </a:ext>
            </a:extLst>
          </p:cNvPr>
          <p:cNvSpPr>
            <a:spLocks noGrp="1"/>
          </p:cNvSpPr>
          <p:nvPr>
            <p:ph type="dt" sz="half" idx="10"/>
          </p:nvPr>
        </p:nvSpPr>
        <p:spPr/>
        <p:txBody>
          <a:bodyPr/>
          <a:lstStyle/>
          <a:p>
            <a:fld id="{2B6B3804-C3CD-45F7-AC30-F33D53CFF88D}" type="datetimeFigureOut">
              <a:rPr lang="en-IN" smtClean="0"/>
              <a:t>14-11-2025</a:t>
            </a:fld>
            <a:endParaRPr lang="en-IN"/>
          </a:p>
        </p:txBody>
      </p:sp>
      <p:sp>
        <p:nvSpPr>
          <p:cNvPr id="4" name="Footer Placeholder 3">
            <a:extLst>
              <a:ext uri="{FF2B5EF4-FFF2-40B4-BE49-F238E27FC236}">
                <a16:creationId xmlns:a16="http://schemas.microsoft.com/office/drawing/2014/main" id="{0ED26C5B-6E74-6836-02F0-81873CEFE6C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7E47CA6-1F09-1440-AFB2-DCC233FE76FC}"/>
              </a:ext>
            </a:extLst>
          </p:cNvPr>
          <p:cNvSpPr>
            <a:spLocks noGrp="1"/>
          </p:cNvSpPr>
          <p:nvPr>
            <p:ph type="sldNum" sz="quarter" idx="12"/>
          </p:nvPr>
        </p:nvSpPr>
        <p:spPr/>
        <p:txBody>
          <a:bodyPr/>
          <a:lstStyle/>
          <a:p>
            <a:fld id="{08E05600-DBAF-4D67-AAC1-8F60CBBFE5DA}" type="slidenum">
              <a:rPr lang="en-IN" smtClean="0"/>
              <a:t>‹#›</a:t>
            </a:fld>
            <a:endParaRPr lang="en-IN"/>
          </a:p>
        </p:txBody>
      </p:sp>
    </p:spTree>
    <p:extLst>
      <p:ext uri="{BB962C8B-B14F-4D97-AF65-F5344CB8AC3E}">
        <p14:creationId xmlns:p14="http://schemas.microsoft.com/office/powerpoint/2010/main" val="1279915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59CD5B-D237-E32B-300E-FD250E79CBFD}"/>
              </a:ext>
            </a:extLst>
          </p:cNvPr>
          <p:cNvSpPr>
            <a:spLocks noGrp="1"/>
          </p:cNvSpPr>
          <p:nvPr>
            <p:ph type="dt" sz="half" idx="10"/>
          </p:nvPr>
        </p:nvSpPr>
        <p:spPr/>
        <p:txBody>
          <a:bodyPr/>
          <a:lstStyle/>
          <a:p>
            <a:fld id="{2B6B3804-C3CD-45F7-AC30-F33D53CFF88D}" type="datetimeFigureOut">
              <a:rPr lang="en-IN" smtClean="0"/>
              <a:t>14-11-2025</a:t>
            </a:fld>
            <a:endParaRPr lang="en-IN"/>
          </a:p>
        </p:txBody>
      </p:sp>
      <p:sp>
        <p:nvSpPr>
          <p:cNvPr id="3" name="Footer Placeholder 2">
            <a:extLst>
              <a:ext uri="{FF2B5EF4-FFF2-40B4-BE49-F238E27FC236}">
                <a16:creationId xmlns:a16="http://schemas.microsoft.com/office/drawing/2014/main" id="{50B06C74-CD09-BA0D-7C7E-D1D89E61D46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655F454-3634-CAC3-689C-D98F224A1308}"/>
              </a:ext>
            </a:extLst>
          </p:cNvPr>
          <p:cNvSpPr>
            <a:spLocks noGrp="1"/>
          </p:cNvSpPr>
          <p:nvPr>
            <p:ph type="sldNum" sz="quarter" idx="12"/>
          </p:nvPr>
        </p:nvSpPr>
        <p:spPr/>
        <p:txBody>
          <a:bodyPr/>
          <a:lstStyle/>
          <a:p>
            <a:fld id="{08E05600-DBAF-4D67-AAC1-8F60CBBFE5DA}" type="slidenum">
              <a:rPr lang="en-IN" smtClean="0"/>
              <a:t>‹#›</a:t>
            </a:fld>
            <a:endParaRPr lang="en-IN"/>
          </a:p>
        </p:txBody>
      </p:sp>
    </p:spTree>
    <p:extLst>
      <p:ext uri="{BB962C8B-B14F-4D97-AF65-F5344CB8AC3E}">
        <p14:creationId xmlns:p14="http://schemas.microsoft.com/office/powerpoint/2010/main" val="217611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B241C-61C4-A47E-EA8A-C64A92FC11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BBD06CE-3603-9C6A-88D0-EF34019BEC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7AB111-BDE3-25A5-662D-3ADAC79D77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B709EB-244B-C588-F210-3E9996AF580D}"/>
              </a:ext>
            </a:extLst>
          </p:cNvPr>
          <p:cNvSpPr>
            <a:spLocks noGrp="1"/>
          </p:cNvSpPr>
          <p:nvPr>
            <p:ph type="dt" sz="half" idx="10"/>
          </p:nvPr>
        </p:nvSpPr>
        <p:spPr/>
        <p:txBody>
          <a:bodyPr/>
          <a:lstStyle/>
          <a:p>
            <a:fld id="{2B6B3804-C3CD-45F7-AC30-F33D53CFF88D}" type="datetimeFigureOut">
              <a:rPr lang="en-IN" smtClean="0"/>
              <a:t>14-11-2025</a:t>
            </a:fld>
            <a:endParaRPr lang="en-IN"/>
          </a:p>
        </p:txBody>
      </p:sp>
      <p:sp>
        <p:nvSpPr>
          <p:cNvPr id="6" name="Footer Placeholder 5">
            <a:extLst>
              <a:ext uri="{FF2B5EF4-FFF2-40B4-BE49-F238E27FC236}">
                <a16:creationId xmlns:a16="http://schemas.microsoft.com/office/drawing/2014/main" id="{D8AE60AF-146B-DF85-3B0D-C64A2C2DB9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EC3FCE-5F1E-003A-2F0F-168C3C3F6728}"/>
              </a:ext>
            </a:extLst>
          </p:cNvPr>
          <p:cNvSpPr>
            <a:spLocks noGrp="1"/>
          </p:cNvSpPr>
          <p:nvPr>
            <p:ph type="sldNum" sz="quarter" idx="12"/>
          </p:nvPr>
        </p:nvSpPr>
        <p:spPr/>
        <p:txBody>
          <a:bodyPr/>
          <a:lstStyle/>
          <a:p>
            <a:fld id="{08E05600-DBAF-4D67-AAC1-8F60CBBFE5DA}" type="slidenum">
              <a:rPr lang="en-IN" smtClean="0"/>
              <a:t>‹#›</a:t>
            </a:fld>
            <a:endParaRPr lang="en-IN"/>
          </a:p>
        </p:txBody>
      </p:sp>
    </p:spTree>
    <p:extLst>
      <p:ext uri="{BB962C8B-B14F-4D97-AF65-F5344CB8AC3E}">
        <p14:creationId xmlns:p14="http://schemas.microsoft.com/office/powerpoint/2010/main" val="2646374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BF044-8B0B-4E28-9554-E07FF919B7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F41AEE6-3E6C-6E61-60E8-2365FEEA00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3DF802A-3F87-A5F2-22CF-8B7B71B018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ECBDF4-039D-B9F6-F754-7CD8C941405D}"/>
              </a:ext>
            </a:extLst>
          </p:cNvPr>
          <p:cNvSpPr>
            <a:spLocks noGrp="1"/>
          </p:cNvSpPr>
          <p:nvPr>
            <p:ph type="dt" sz="half" idx="10"/>
          </p:nvPr>
        </p:nvSpPr>
        <p:spPr/>
        <p:txBody>
          <a:bodyPr/>
          <a:lstStyle/>
          <a:p>
            <a:fld id="{2B6B3804-C3CD-45F7-AC30-F33D53CFF88D}" type="datetimeFigureOut">
              <a:rPr lang="en-IN" smtClean="0"/>
              <a:t>14-11-2025</a:t>
            </a:fld>
            <a:endParaRPr lang="en-IN"/>
          </a:p>
        </p:txBody>
      </p:sp>
      <p:sp>
        <p:nvSpPr>
          <p:cNvPr id="6" name="Footer Placeholder 5">
            <a:extLst>
              <a:ext uri="{FF2B5EF4-FFF2-40B4-BE49-F238E27FC236}">
                <a16:creationId xmlns:a16="http://schemas.microsoft.com/office/drawing/2014/main" id="{DB84F146-05B3-0C29-EF47-D557ABAF19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53D4534-A1F3-75F0-D612-D6D1AE609089}"/>
              </a:ext>
            </a:extLst>
          </p:cNvPr>
          <p:cNvSpPr>
            <a:spLocks noGrp="1"/>
          </p:cNvSpPr>
          <p:nvPr>
            <p:ph type="sldNum" sz="quarter" idx="12"/>
          </p:nvPr>
        </p:nvSpPr>
        <p:spPr/>
        <p:txBody>
          <a:bodyPr/>
          <a:lstStyle/>
          <a:p>
            <a:fld id="{08E05600-DBAF-4D67-AAC1-8F60CBBFE5DA}" type="slidenum">
              <a:rPr lang="en-IN" smtClean="0"/>
              <a:t>‹#›</a:t>
            </a:fld>
            <a:endParaRPr lang="en-IN"/>
          </a:p>
        </p:txBody>
      </p:sp>
    </p:spTree>
    <p:extLst>
      <p:ext uri="{BB962C8B-B14F-4D97-AF65-F5344CB8AC3E}">
        <p14:creationId xmlns:p14="http://schemas.microsoft.com/office/powerpoint/2010/main" val="2087228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22A09-EB5E-72AE-4F29-F5E157509ED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324A74-9A66-5B29-8BCC-07AC4B12B8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70B3EF-0F4E-4BD1-6F1F-D9E0543CED71}"/>
              </a:ext>
            </a:extLst>
          </p:cNvPr>
          <p:cNvSpPr>
            <a:spLocks noGrp="1"/>
          </p:cNvSpPr>
          <p:nvPr>
            <p:ph type="dt" sz="half" idx="10"/>
          </p:nvPr>
        </p:nvSpPr>
        <p:spPr/>
        <p:txBody>
          <a:bodyPr/>
          <a:lstStyle/>
          <a:p>
            <a:fld id="{2B6B3804-C3CD-45F7-AC30-F33D53CFF88D}" type="datetimeFigureOut">
              <a:rPr lang="en-IN" smtClean="0"/>
              <a:t>14-11-2025</a:t>
            </a:fld>
            <a:endParaRPr lang="en-IN"/>
          </a:p>
        </p:txBody>
      </p:sp>
      <p:sp>
        <p:nvSpPr>
          <p:cNvPr id="5" name="Footer Placeholder 4">
            <a:extLst>
              <a:ext uri="{FF2B5EF4-FFF2-40B4-BE49-F238E27FC236}">
                <a16:creationId xmlns:a16="http://schemas.microsoft.com/office/drawing/2014/main" id="{BE0AC01E-34E3-6FEA-1692-755E6EC0F2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DF8D5D-D7DA-F890-1C3A-7B5325010485}"/>
              </a:ext>
            </a:extLst>
          </p:cNvPr>
          <p:cNvSpPr>
            <a:spLocks noGrp="1"/>
          </p:cNvSpPr>
          <p:nvPr>
            <p:ph type="sldNum" sz="quarter" idx="12"/>
          </p:nvPr>
        </p:nvSpPr>
        <p:spPr/>
        <p:txBody>
          <a:bodyPr/>
          <a:lstStyle/>
          <a:p>
            <a:fld id="{08E05600-DBAF-4D67-AAC1-8F60CBBFE5DA}" type="slidenum">
              <a:rPr lang="en-IN" smtClean="0"/>
              <a:t>‹#›</a:t>
            </a:fld>
            <a:endParaRPr lang="en-IN"/>
          </a:p>
        </p:txBody>
      </p:sp>
    </p:spTree>
    <p:extLst>
      <p:ext uri="{BB962C8B-B14F-4D97-AF65-F5344CB8AC3E}">
        <p14:creationId xmlns:p14="http://schemas.microsoft.com/office/powerpoint/2010/main" val="3136710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1956EE-F14D-EBAC-1301-52F722772EE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FFF6BA-C2EB-99B7-71CC-C976038D97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38E318-DA9B-0060-B5B9-B91B78868BB8}"/>
              </a:ext>
            </a:extLst>
          </p:cNvPr>
          <p:cNvSpPr>
            <a:spLocks noGrp="1"/>
          </p:cNvSpPr>
          <p:nvPr>
            <p:ph type="dt" sz="half" idx="10"/>
          </p:nvPr>
        </p:nvSpPr>
        <p:spPr/>
        <p:txBody>
          <a:bodyPr/>
          <a:lstStyle/>
          <a:p>
            <a:fld id="{2B6B3804-C3CD-45F7-AC30-F33D53CFF88D}" type="datetimeFigureOut">
              <a:rPr lang="en-IN" smtClean="0"/>
              <a:t>14-11-2025</a:t>
            </a:fld>
            <a:endParaRPr lang="en-IN"/>
          </a:p>
        </p:txBody>
      </p:sp>
      <p:sp>
        <p:nvSpPr>
          <p:cNvPr id="5" name="Footer Placeholder 4">
            <a:extLst>
              <a:ext uri="{FF2B5EF4-FFF2-40B4-BE49-F238E27FC236}">
                <a16:creationId xmlns:a16="http://schemas.microsoft.com/office/drawing/2014/main" id="{106E098D-64DC-802B-ADA5-10EEE19D89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80F42B-3B23-1A5B-BB2E-24D1B7C6A97D}"/>
              </a:ext>
            </a:extLst>
          </p:cNvPr>
          <p:cNvSpPr>
            <a:spLocks noGrp="1"/>
          </p:cNvSpPr>
          <p:nvPr>
            <p:ph type="sldNum" sz="quarter" idx="12"/>
          </p:nvPr>
        </p:nvSpPr>
        <p:spPr/>
        <p:txBody>
          <a:bodyPr/>
          <a:lstStyle/>
          <a:p>
            <a:fld id="{08E05600-DBAF-4D67-AAC1-8F60CBBFE5DA}" type="slidenum">
              <a:rPr lang="en-IN" smtClean="0"/>
              <a:t>‹#›</a:t>
            </a:fld>
            <a:endParaRPr lang="en-IN"/>
          </a:p>
        </p:txBody>
      </p:sp>
    </p:spTree>
    <p:extLst>
      <p:ext uri="{BB962C8B-B14F-4D97-AF65-F5344CB8AC3E}">
        <p14:creationId xmlns:p14="http://schemas.microsoft.com/office/powerpoint/2010/main" val="3077318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3892A1-07D7-0EA8-CBDD-3D19A554F1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3FCC1B-D183-8FC2-9B8B-7176E0FC63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C9BB78-7AEF-CEEA-A2BC-40DA783A82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6B3804-C3CD-45F7-AC30-F33D53CFF88D}" type="datetimeFigureOut">
              <a:rPr lang="en-IN" smtClean="0"/>
              <a:t>14-11-2025</a:t>
            </a:fld>
            <a:endParaRPr lang="en-IN"/>
          </a:p>
        </p:txBody>
      </p:sp>
      <p:sp>
        <p:nvSpPr>
          <p:cNvPr id="5" name="Footer Placeholder 4">
            <a:extLst>
              <a:ext uri="{FF2B5EF4-FFF2-40B4-BE49-F238E27FC236}">
                <a16:creationId xmlns:a16="http://schemas.microsoft.com/office/drawing/2014/main" id="{7CE98BED-0E0F-4029-C627-7178A8EA10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77B69E0-29A7-F2C8-FAD1-45BBF8AAF1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8E05600-DBAF-4D67-AAC1-8F60CBBFE5DA}" type="slidenum">
              <a:rPr lang="en-IN" smtClean="0"/>
              <a:t>‹#›</a:t>
            </a:fld>
            <a:endParaRPr lang="en-IN"/>
          </a:p>
        </p:txBody>
      </p:sp>
    </p:spTree>
    <p:extLst>
      <p:ext uri="{BB962C8B-B14F-4D97-AF65-F5344CB8AC3E}">
        <p14:creationId xmlns:p14="http://schemas.microsoft.com/office/powerpoint/2010/main" val="18121761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688FC-B6E3-1CDF-991F-A3B3A9AD7B12}"/>
              </a:ext>
            </a:extLst>
          </p:cNvPr>
          <p:cNvSpPr>
            <a:spLocks noGrp="1"/>
          </p:cNvSpPr>
          <p:nvPr>
            <p:ph type="ctrTitle"/>
          </p:nvPr>
        </p:nvSpPr>
        <p:spPr>
          <a:xfrm>
            <a:off x="1341785" y="2664449"/>
            <a:ext cx="9694810" cy="764552"/>
          </a:xfrm>
        </p:spPr>
        <p:txBody>
          <a:bodyPr>
            <a:normAutofit fontScale="90000"/>
          </a:bodyPr>
          <a:lstStyle/>
          <a:p>
            <a:r>
              <a:rPr lang="en-IN" sz="2400" dirty="0">
                <a:solidFill>
                  <a:srgbClr val="00B0F0"/>
                </a:solidFill>
                <a:latin typeface="Times New Roman" panose="02020603050405020304" pitchFamily="18" charset="0"/>
                <a:cs typeface="Times New Roman" panose="02020603050405020304" pitchFamily="18" charset="0"/>
              </a:rPr>
              <a:t>A MAJOR PROJECT PRESENTATION </a:t>
            </a:r>
            <a:br>
              <a:rPr lang="en-IN" sz="2400" dirty="0">
                <a:solidFill>
                  <a:srgbClr val="00B0F0"/>
                </a:solidFill>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ON</a:t>
            </a:r>
            <a:br>
              <a:rPr lang="en-IN" sz="2400" dirty="0">
                <a:latin typeface="Times New Roman" panose="02020603050405020304" pitchFamily="18" charset="0"/>
                <a:cs typeface="Times New Roman" panose="02020603050405020304" pitchFamily="18" charset="0"/>
              </a:rPr>
            </a:br>
            <a:endParaRPr lang="en-IN" sz="2400" dirty="0"/>
          </a:p>
        </p:txBody>
      </p:sp>
      <p:sp>
        <p:nvSpPr>
          <p:cNvPr id="3" name="Subtitle 2">
            <a:extLst>
              <a:ext uri="{FF2B5EF4-FFF2-40B4-BE49-F238E27FC236}">
                <a16:creationId xmlns:a16="http://schemas.microsoft.com/office/drawing/2014/main" id="{66934392-C6A0-D239-5ACF-A6805EA53A5A}"/>
              </a:ext>
            </a:extLst>
          </p:cNvPr>
          <p:cNvSpPr>
            <a:spLocks noGrp="1"/>
          </p:cNvSpPr>
          <p:nvPr>
            <p:ph type="subTitle" idx="1"/>
          </p:nvPr>
        </p:nvSpPr>
        <p:spPr>
          <a:xfrm>
            <a:off x="1524000" y="1968500"/>
            <a:ext cx="10480158" cy="428529"/>
          </a:xfrm>
        </p:spPr>
        <p:txBody>
          <a:bodyPr>
            <a:normAutofit/>
          </a:bodyPr>
          <a:lstStyle/>
          <a:p>
            <a:r>
              <a:rPr lang="en-IN" dirty="0">
                <a:solidFill>
                  <a:srgbClr val="FF0000"/>
                </a:solidFill>
                <a:latin typeface="Times New Roman" panose="02020603050405020304" pitchFamily="18" charset="0"/>
                <a:cs typeface="Times New Roman" panose="02020603050405020304" pitchFamily="18" charset="0"/>
              </a:rPr>
              <a:t>DEPARTMENT OF ELECTRONICS &amp; COMMUNICATION ENGINEERING</a:t>
            </a:r>
          </a:p>
          <a:p>
            <a:endParaRPr lang="en-IN" dirty="0"/>
          </a:p>
        </p:txBody>
      </p:sp>
      <p:pic>
        <p:nvPicPr>
          <p:cNvPr id="4" name="Picture 3">
            <a:extLst>
              <a:ext uri="{FF2B5EF4-FFF2-40B4-BE49-F238E27FC236}">
                <a16:creationId xmlns:a16="http://schemas.microsoft.com/office/drawing/2014/main" id="{1701DF20-5BF2-7502-0F90-73B51442A1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2620" y="376574"/>
            <a:ext cx="9993980" cy="1349244"/>
          </a:xfrm>
          <a:prstGeom prst="rect">
            <a:avLst/>
          </a:prstGeom>
        </p:spPr>
      </p:pic>
      <p:sp>
        <p:nvSpPr>
          <p:cNvPr id="8" name="TextBox 7">
            <a:extLst>
              <a:ext uri="{FF2B5EF4-FFF2-40B4-BE49-F238E27FC236}">
                <a16:creationId xmlns:a16="http://schemas.microsoft.com/office/drawing/2014/main" id="{9E440B5F-9C47-1222-05B5-EF8218C06C6C}"/>
              </a:ext>
            </a:extLst>
          </p:cNvPr>
          <p:cNvSpPr txBox="1"/>
          <p:nvPr/>
        </p:nvSpPr>
        <p:spPr>
          <a:xfrm>
            <a:off x="2289339" y="3154270"/>
            <a:ext cx="8007349" cy="830997"/>
          </a:xfrm>
          <a:prstGeom prst="rect">
            <a:avLst/>
          </a:prstGeom>
          <a:noFill/>
        </p:spPr>
        <p:txBody>
          <a:bodyPr wrap="square">
            <a:spAutoFit/>
          </a:bodyPr>
          <a:lstStyle/>
          <a:p>
            <a:pPr algn="ctr"/>
            <a:r>
              <a:rPr lang="en-US" sz="2400" b="1" dirty="0">
                <a:solidFill>
                  <a:srgbClr val="002060"/>
                </a:solidFill>
              </a:rPr>
              <a:t>SMART INDUSTRIAL HAZARDOUS GAS LEAKAGE DETECTION AND AUTOMATED SAFETY RESPONSE SYSTEM</a:t>
            </a:r>
            <a:endParaRPr lang="en-IN" sz="2400" b="1" dirty="0">
              <a:solidFill>
                <a:srgbClr val="002060"/>
              </a:solidFill>
            </a:endParaRPr>
          </a:p>
        </p:txBody>
      </p:sp>
      <p:sp>
        <p:nvSpPr>
          <p:cNvPr id="10" name="TextBox 9">
            <a:extLst>
              <a:ext uri="{FF2B5EF4-FFF2-40B4-BE49-F238E27FC236}">
                <a16:creationId xmlns:a16="http://schemas.microsoft.com/office/drawing/2014/main" id="{66E9902A-F32B-4EC5-F3AB-143214911514}"/>
              </a:ext>
            </a:extLst>
          </p:cNvPr>
          <p:cNvSpPr txBox="1"/>
          <p:nvPr/>
        </p:nvSpPr>
        <p:spPr>
          <a:xfrm>
            <a:off x="902620" y="4434076"/>
            <a:ext cx="3286608" cy="1477328"/>
          </a:xfrm>
          <a:prstGeom prst="rect">
            <a:avLst/>
          </a:prstGeom>
          <a:noFill/>
        </p:spPr>
        <p:txBody>
          <a:bodyPr wrap="square">
            <a:spAutoFit/>
          </a:bodyPr>
          <a:lstStyle/>
          <a:p>
            <a:pPr algn="l"/>
            <a:r>
              <a:rPr lang="en-US" sz="1800" b="1" dirty="0">
                <a:latin typeface="Times New Roman" panose="02020603050405020304" pitchFamily="18" charset="0"/>
                <a:cs typeface="Times New Roman" panose="02020603050405020304" pitchFamily="18" charset="0"/>
              </a:rPr>
              <a:t>Presented by:</a:t>
            </a:r>
          </a:p>
          <a:p>
            <a:pPr algn="l"/>
            <a:r>
              <a:rPr lang="en-US" sz="1800" dirty="0">
                <a:latin typeface="Times New Roman" panose="02020603050405020304" pitchFamily="18" charset="0"/>
                <a:cs typeface="Times New Roman" panose="02020603050405020304" pitchFamily="18" charset="0"/>
              </a:rPr>
              <a:t>B .Prasanna        [22681A0409]</a:t>
            </a:r>
          </a:p>
          <a:p>
            <a:pPr algn="l"/>
            <a:r>
              <a:rPr lang="en-US" sz="1800" dirty="0">
                <a:latin typeface="Times New Roman" panose="02020603050405020304" pitchFamily="18" charset="0"/>
                <a:cs typeface="Times New Roman" panose="02020603050405020304" pitchFamily="18" charset="0"/>
              </a:rPr>
              <a:t>A .Ramya           [22681A0406]</a:t>
            </a:r>
          </a:p>
          <a:p>
            <a:pPr algn="l"/>
            <a:r>
              <a:rPr lang="en-US" sz="1800" dirty="0">
                <a:latin typeface="Times New Roman" panose="02020603050405020304" pitchFamily="18" charset="0"/>
                <a:cs typeface="Times New Roman" panose="02020603050405020304" pitchFamily="18" charset="0"/>
              </a:rPr>
              <a:t>K .Achala           [22681A0431]</a:t>
            </a:r>
          </a:p>
          <a:p>
            <a:pPr algn="l"/>
            <a:r>
              <a:rPr lang="en-US" sz="1800" dirty="0">
                <a:latin typeface="Times New Roman" panose="02020603050405020304" pitchFamily="18" charset="0"/>
                <a:cs typeface="Times New Roman" panose="02020603050405020304" pitchFamily="18" charset="0"/>
              </a:rPr>
              <a:t>A .Raghavendra  [22681A0407] </a:t>
            </a:r>
            <a:endParaRPr lang="en-IN" sz="18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AE1DF49B-8F6E-A471-A45B-3652A02525F9}"/>
              </a:ext>
            </a:extLst>
          </p:cNvPr>
          <p:cNvSpPr txBox="1"/>
          <p:nvPr/>
        </p:nvSpPr>
        <p:spPr>
          <a:xfrm>
            <a:off x="5568802" y="4711075"/>
            <a:ext cx="6097772" cy="1200329"/>
          </a:xfrm>
          <a:prstGeom prst="rect">
            <a:avLst/>
          </a:prstGeom>
          <a:noFill/>
        </p:spPr>
        <p:txBody>
          <a:bodyPr wrap="square">
            <a:spAutoFit/>
          </a:bodyPr>
          <a:lstStyle/>
          <a:p>
            <a:pPr algn="ctr"/>
            <a:r>
              <a:rPr lang="en-IN" b="1" dirty="0">
                <a:latin typeface="Times New Roman" panose="02020603050405020304" pitchFamily="18" charset="0"/>
                <a:cs typeface="Times New Roman" panose="02020603050405020304" pitchFamily="18" charset="0"/>
              </a:rPr>
              <a:t>Under the esteemed guidance of:</a:t>
            </a:r>
          </a:p>
          <a:p>
            <a:pPr algn="ctr"/>
            <a:endParaRPr lang="en-IN" dirty="0">
              <a:latin typeface="Times New Roman" panose="02020603050405020304" pitchFamily="18" charset="0"/>
              <a:cs typeface="Times New Roman" panose="02020603050405020304" pitchFamily="18" charset="0"/>
            </a:endParaRPr>
          </a:p>
          <a:p>
            <a:pPr algn="ctr"/>
            <a:r>
              <a:rPr lang="en-IN" dirty="0">
                <a:latin typeface="Times New Roman" panose="02020603050405020304" pitchFamily="18" charset="0"/>
                <a:cs typeface="Times New Roman" panose="02020603050405020304" pitchFamily="18" charset="0"/>
              </a:rPr>
              <a:t>Mr. B. Hanumanthu</a:t>
            </a:r>
          </a:p>
          <a:p>
            <a:pPr algn="ctr"/>
            <a:r>
              <a:rPr lang="en-IN" dirty="0">
                <a:latin typeface="Times New Roman" panose="02020603050405020304" pitchFamily="18" charset="0"/>
                <a:cs typeface="Times New Roman" panose="02020603050405020304" pitchFamily="18" charset="0"/>
              </a:rPr>
              <a:t>(Assistant Professor) </a:t>
            </a:r>
          </a:p>
        </p:txBody>
      </p:sp>
    </p:spTree>
    <p:extLst>
      <p:ext uri="{BB962C8B-B14F-4D97-AF65-F5344CB8AC3E}">
        <p14:creationId xmlns:p14="http://schemas.microsoft.com/office/powerpoint/2010/main" val="347502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67F12FD-608A-F14F-840E-0FC468AA955E}"/>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Contents:</a:t>
            </a:r>
            <a:endParaRPr lang="en-IN" sz="4000" b="1"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BFFC0185-0827-A11E-5F67-324D29383089}"/>
              </a:ext>
            </a:extLst>
          </p:cNvPr>
          <p:cNvSpPr>
            <a:spLocks noGrp="1"/>
          </p:cNvSpPr>
          <p:nvPr>
            <p:ph idx="1"/>
          </p:nvPr>
        </p:nvSpPr>
        <p:spPr>
          <a:xfrm>
            <a:off x="838200" y="1359243"/>
            <a:ext cx="10515600" cy="4817720"/>
          </a:xfrm>
        </p:spPr>
        <p:txBody>
          <a:bodyPr/>
          <a:lstStyle/>
          <a:p>
            <a:r>
              <a:rPr lang="en-IN" sz="2000" dirty="0"/>
              <a:t>Abstract</a:t>
            </a:r>
          </a:p>
          <a:p>
            <a:r>
              <a:rPr lang="en-IN" sz="2000" dirty="0"/>
              <a:t>Existing system</a:t>
            </a:r>
          </a:p>
          <a:p>
            <a:r>
              <a:rPr lang="en-IN" sz="2000" dirty="0"/>
              <a:t>Proposed system</a:t>
            </a:r>
          </a:p>
          <a:p>
            <a:r>
              <a:rPr lang="en-IN" sz="2000" dirty="0"/>
              <a:t>Block Diagram</a:t>
            </a:r>
          </a:p>
          <a:p>
            <a:r>
              <a:rPr lang="en-IN" sz="2000" dirty="0"/>
              <a:t>Components</a:t>
            </a:r>
          </a:p>
          <a:p>
            <a:r>
              <a:rPr lang="en-IN" sz="2000" dirty="0"/>
              <a:t>Working principle</a:t>
            </a:r>
          </a:p>
          <a:p>
            <a:r>
              <a:rPr lang="en-IN" sz="2000" dirty="0"/>
              <a:t>Applications</a:t>
            </a:r>
          </a:p>
          <a:p>
            <a:r>
              <a:rPr lang="en-IN" sz="2000" dirty="0"/>
              <a:t>Advantages</a:t>
            </a:r>
          </a:p>
          <a:p>
            <a:r>
              <a:rPr lang="en-IN" sz="2000" dirty="0"/>
              <a:t>Expected Results</a:t>
            </a:r>
          </a:p>
          <a:p>
            <a:r>
              <a:rPr lang="en-IN" sz="2000" dirty="0"/>
              <a:t>Conclusion</a:t>
            </a:r>
          </a:p>
          <a:p>
            <a:r>
              <a:rPr lang="en-IN" sz="2000" dirty="0"/>
              <a:t>Future scope</a:t>
            </a:r>
          </a:p>
          <a:p>
            <a:r>
              <a:rPr lang="en-IN" sz="2000" dirty="0"/>
              <a:t>References</a:t>
            </a:r>
          </a:p>
        </p:txBody>
      </p:sp>
    </p:spTree>
    <p:extLst>
      <p:ext uri="{BB962C8B-B14F-4D97-AF65-F5344CB8AC3E}">
        <p14:creationId xmlns:p14="http://schemas.microsoft.com/office/powerpoint/2010/main" val="3426318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9C6CD-E012-5767-DDF6-11A796F7FA9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DE6BBF9-A5B4-BFDD-0FD7-8DB0DEFD3D01}"/>
              </a:ext>
            </a:extLst>
          </p:cNvPr>
          <p:cNvSpPr>
            <a:spLocks noGrp="1" noChangeArrowheads="1"/>
          </p:cNvSpPr>
          <p:nvPr>
            <p:ph idx="1"/>
          </p:nvPr>
        </p:nvSpPr>
        <p:spPr bwMode="auto">
          <a:xfrm>
            <a:off x="2433083" y="2919119"/>
            <a:ext cx="696609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indent="0" eaLnBrk="0" fontAlgn="base" hangingPunct="0">
              <a:lnSpc>
                <a:spcPct val="100000"/>
              </a:lnSpc>
              <a:spcBef>
                <a:spcPct val="0"/>
              </a:spcBef>
              <a:spcAft>
                <a:spcPct val="0"/>
              </a:spcAft>
              <a:buFontTx/>
              <a:buChar char="•"/>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CC770B1E-4CA7-FA90-48B6-A18597B884B9}"/>
              </a:ext>
            </a:extLst>
          </p:cNvPr>
          <p:cNvSpPr>
            <a:spLocks noChangeArrowheads="1"/>
          </p:cNvSpPr>
          <p:nvPr/>
        </p:nvSpPr>
        <p:spPr bwMode="auto">
          <a:xfrm>
            <a:off x="228601" y="1815737"/>
            <a:ext cx="11963399" cy="32265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IN" sz="2000" dirty="0">
                <a:latin typeface="Times New Roman" panose="02020603050405020304" pitchFamily="18" charset="0"/>
                <a:cs typeface="Times New Roman" panose="02020603050405020304" pitchFamily="18" charset="0"/>
              </a:rPr>
              <a:t>This project is about creating a smart system that can detect hazardous gas leaks in industrial areas and respond automatically to keep people safe. It uses special sensors to monitor gases like methane, carbon monoxide, and ammonia in real time. If dangerous levels are found, the system quickly activates safety measures such as alarms, ventilation, and emergency shutdowns. It also sends alerts to workers through mobile and web apps so they can take action immediately. This system helps prevent accidents, protects health, protects works and ensures a safer working environment. The system is easy to install, energy-efficient, and can be used in many types of industries. </a:t>
            </a:r>
            <a:endParaRPr kumimoji="0" lang="en-US" altLang="en-US" sz="2000"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8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19714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DCB9B-B392-DE48-4AB2-8A5F2477D3F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Existing System:</a:t>
            </a:r>
            <a:br>
              <a:rPr lang="en-US" dirty="0"/>
            </a:b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264253E-7219-23C4-3865-34E9000D21A8}"/>
              </a:ext>
            </a:extLst>
          </p:cNvPr>
          <p:cNvSpPr>
            <a:spLocks noGrp="1"/>
          </p:cNvSpPr>
          <p:nvPr>
            <p:ph idx="1"/>
          </p:nvPr>
        </p:nvSpPr>
        <p:spPr>
          <a:xfrm>
            <a:off x="457200" y="1334531"/>
            <a:ext cx="10896600" cy="5286188"/>
          </a:xfrm>
        </p:spPr>
        <p:txBody>
          <a:bodyPr>
            <a:normAutofit/>
          </a:bodyPr>
          <a:lstStyle/>
          <a:p>
            <a:pPr marL="0" indent="0">
              <a:lnSpc>
                <a:spcPct val="150000"/>
              </a:lnSpc>
              <a:buNone/>
            </a:pP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Here’s a description of the current methods used to solve the problem of </a:t>
            </a:r>
            <a:r>
              <a:rPr lang="en-US" sz="2000" dirty="0">
                <a:latin typeface="Times New Roman" panose="02020603050405020304" pitchFamily="18" charset="0"/>
                <a:cs typeface="Times New Roman" panose="02020603050405020304" pitchFamily="18" charset="0"/>
              </a:rPr>
              <a:t>industrial harmful gas leakage detection and automated safety response</a:t>
            </a:r>
            <a:endParaRPr lang="en-IN" sz="2000" b="1"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IoT gas detection</a:t>
            </a:r>
          </a:p>
          <a:p>
            <a:pPr>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Harmful gas sensors</a:t>
            </a:r>
          </a:p>
          <a:p>
            <a:pPr>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Automated safety response</a:t>
            </a:r>
          </a:p>
          <a:p>
            <a:pPr>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Real-time gas monitoring</a:t>
            </a:r>
          </a:p>
          <a:p>
            <a:pPr>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Smart gas leak detection</a:t>
            </a:r>
          </a:p>
          <a:p>
            <a:pPr>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Wireless sensor networks</a:t>
            </a:r>
          </a:p>
          <a:p>
            <a:pPr>
              <a:lnSpc>
                <a:spcPct val="150000"/>
              </a:lnSpc>
              <a:buFont typeface="Wingdings" panose="05000000000000000000" pitchFamily="2" charset="2"/>
              <a:buChar char="§"/>
            </a:pPr>
            <a:r>
              <a:rPr lang="en-IN" sz="2000" dirty="0">
                <a:latin typeface="Times New Roman" panose="02020603050405020304" pitchFamily="18" charset="0"/>
                <a:cs typeface="Times New Roman" panose="02020603050405020304" pitchFamily="18" charset="0"/>
              </a:rPr>
              <a:t>Emergency shutdown systems</a:t>
            </a:r>
          </a:p>
          <a:p>
            <a:pPr marL="0" indent="0">
              <a:buNone/>
            </a:pPr>
            <a:endParaRPr lang="en-IN" dirty="0"/>
          </a:p>
        </p:txBody>
      </p:sp>
    </p:spTree>
    <p:extLst>
      <p:ext uri="{BB962C8B-B14F-4D97-AF65-F5344CB8AC3E}">
        <p14:creationId xmlns:p14="http://schemas.microsoft.com/office/powerpoint/2010/main" val="2915232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ADC44-353B-D5B3-CC34-91FCC0133A94}"/>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Proposed system:</a:t>
            </a:r>
          </a:p>
        </p:txBody>
      </p:sp>
      <p:sp>
        <p:nvSpPr>
          <p:cNvPr id="4" name="Rectangle 1">
            <a:extLst>
              <a:ext uri="{FF2B5EF4-FFF2-40B4-BE49-F238E27FC236}">
                <a16:creationId xmlns:a16="http://schemas.microsoft.com/office/drawing/2014/main" id="{0D810816-CBFA-7029-5081-E48AB3434DD6}"/>
              </a:ext>
            </a:extLst>
          </p:cNvPr>
          <p:cNvSpPr>
            <a:spLocks noGrp="1" noChangeArrowheads="1"/>
          </p:cNvSpPr>
          <p:nvPr>
            <p:ph idx="1"/>
          </p:nvPr>
        </p:nvSpPr>
        <p:spPr bwMode="auto">
          <a:xfrm>
            <a:off x="1025611" y="1493527"/>
            <a:ext cx="9465274"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Gas leakage detection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monitoring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safety response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Wireless communication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integration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Alert system (SMS/Email/Buzzer)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Emergency shutdown </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Environmental monitoring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34471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9CCE2-AB91-2764-2F7D-3B824B880A02}"/>
              </a:ext>
            </a:extLst>
          </p:cNvPr>
          <p:cNvSpPr>
            <a:spLocks noGrp="1"/>
          </p:cNvSpPr>
          <p:nvPr>
            <p:ph type="title"/>
          </p:nvPr>
        </p:nvSpPr>
        <p:spPr>
          <a:xfrm>
            <a:off x="570934" y="462987"/>
            <a:ext cx="10515600" cy="1325563"/>
          </a:xfrm>
        </p:spPr>
        <p:txBody>
          <a:bodyPr>
            <a:normAutofit/>
          </a:bodyPr>
          <a:lstStyle/>
          <a:p>
            <a:r>
              <a:rPr lang="en-US" b="1" dirty="0">
                <a:latin typeface="Times New Roman" panose="02020603050405020304" pitchFamily="18" charset="0"/>
                <a:cs typeface="Times New Roman" panose="02020603050405020304" pitchFamily="18" charset="0"/>
              </a:rPr>
              <a:t>Block diagram:</a:t>
            </a:r>
            <a:endParaRPr lang="en-IN" b="1" dirty="0">
              <a:latin typeface="Times New Roman" panose="02020603050405020304" pitchFamily="18" charset="0"/>
              <a:cs typeface="Times New Roman" panose="02020603050405020304" pitchFamily="18" charset="0"/>
            </a:endParaRPr>
          </a:p>
        </p:txBody>
      </p:sp>
      <p:sp>
        <p:nvSpPr>
          <p:cNvPr id="15" name="Rectangle 12">
            <a:extLst>
              <a:ext uri="{FF2B5EF4-FFF2-40B4-BE49-F238E27FC236}">
                <a16:creationId xmlns:a16="http://schemas.microsoft.com/office/drawing/2014/main" id="{1673F12E-8939-4AD1-DFC3-0C4DA10D2DF0}"/>
              </a:ext>
            </a:extLst>
          </p:cNvPr>
          <p:cNvSpPr>
            <a:spLocks noChangeArrowheads="1"/>
          </p:cNvSpPr>
          <p:nvPr/>
        </p:nvSpPr>
        <p:spPr bwMode="auto">
          <a:xfrm flipV="1">
            <a:off x="0" y="274066"/>
            <a:ext cx="11657469" cy="129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16" name="Rectangle 19">
            <a:extLst>
              <a:ext uri="{FF2B5EF4-FFF2-40B4-BE49-F238E27FC236}">
                <a16:creationId xmlns:a16="http://schemas.microsoft.com/office/drawing/2014/main" id="{459B2473-E77D-4299-1611-87DBA83CDB02}"/>
              </a:ext>
            </a:extLst>
          </p:cNvPr>
          <p:cNvSpPr>
            <a:spLocks noChangeArrowheads="1"/>
          </p:cNvSpPr>
          <p:nvPr/>
        </p:nvSpPr>
        <p:spPr bwMode="auto">
          <a:xfrm>
            <a:off x="0" y="514764"/>
            <a:ext cx="11657469"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Rectangle 18">
            <a:extLst>
              <a:ext uri="{FF2B5EF4-FFF2-40B4-BE49-F238E27FC236}">
                <a16:creationId xmlns:a16="http://schemas.microsoft.com/office/drawing/2014/main" id="{3D909354-A3AE-4D88-7C04-58B03ECE84F6}"/>
              </a:ext>
            </a:extLst>
          </p:cNvPr>
          <p:cNvSpPr/>
          <p:nvPr/>
        </p:nvSpPr>
        <p:spPr>
          <a:xfrm>
            <a:off x="4780344" y="2639027"/>
            <a:ext cx="1886674" cy="306729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t>NODE MCU</a:t>
            </a:r>
            <a:endParaRPr lang="en-IN" sz="2400" b="1" dirty="0"/>
          </a:p>
        </p:txBody>
      </p:sp>
      <p:sp>
        <p:nvSpPr>
          <p:cNvPr id="20" name="Rectangle 19">
            <a:extLst>
              <a:ext uri="{FF2B5EF4-FFF2-40B4-BE49-F238E27FC236}">
                <a16:creationId xmlns:a16="http://schemas.microsoft.com/office/drawing/2014/main" id="{859CA8ED-B5BC-8F7B-9F19-BB92D6A99908}"/>
              </a:ext>
            </a:extLst>
          </p:cNvPr>
          <p:cNvSpPr/>
          <p:nvPr/>
        </p:nvSpPr>
        <p:spPr>
          <a:xfrm>
            <a:off x="1956119" y="2834743"/>
            <a:ext cx="1886674" cy="61635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t>DHT11</a:t>
            </a:r>
            <a:endParaRPr lang="en-IN" sz="2400" b="1" dirty="0"/>
          </a:p>
        </p:txBody>
      </p:sp>
      <p:sp>
        <p:nvSpPr>
          <p:cNvPr id="24" name="Rectangle 23">
            <a:extLst>
              <a:ext uri="{FF2B5EF4-FFF2-40B4-BE49-F238E27FC236}">
                <a16:creationId xmlns:a16="http://schemas.microsoft.com/office/drawing/2014/main" id="{27E46EA5-FDD0-E82A-D843-458F6AAB0739}"/>
              </a:ext>
            </a:extLst>
          </p:cNvPr>
          <p:cNvSpPr/>
          <p:nvPr/>
        </p:nvSpPr>
        <p:spPr>
          <a:xfrm>
            <a:off x="1851949" y="3739409"/>
            <a:ext cx="2002421" cy="6271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t>GAS SENSOR</a:t>
            </a:r>
            <a:endParaRPr lang="en-IN" sz="2400" b="1" dirty="0"/>
          </a:p>
        </p:txBody>
      </p:sp>
      <p:sp>
        <p:nvSpPr>
          <p:cNvPr id="25" name="Rectangle 24">
            <a:extLst>
              <a:ext uri="{FF2B5EF4-FFF2-40B4-BE49-F238E27FC236}">
                <a16:creationId xmlns:a16="http://schemas.microsoft.com/office/drawing/2014/main" id="{57050B8F-E7AB-7362-01C9-BD128C68244A}"/>
              </a:ext>
            </a:extLst>
          </p:cNvPr>
          <p:cNvSpPr/>
          <p:nvPr/>
        </p:nvSpPr>
        <p:spPr>
          <a:xfrm>
            <a:off x="1967695" y="4687747"/>
            <a:ext cx="1886674" cy="75235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t>FIRE SENSOR</a:t>
            </a:r>
            <a:endParaRPr lang="en-IN" sz="2400" b="1" dirty="0"/>
          </a:p>
        </p:txBody>
      </p:sp>
      <p:sp>
        <p:nvSpPr>
          <p:cNvPr id="26" name="Rectangle 25">
            <a:extLst>
              <a:ext uri="{FF2B5EF4-FFF2-40B4-BE49-F238E27FC236}">
                <a16:creationId xmlns:a16="http://schemas.microsoft.com/office/drawing/2014/main" id="{1ACB5F5E-015C-97CB-9C9A-DC6432214A4F}"/>
              </a:ext>
            </a:extLst>
          </p:cNvPr>
          <p:cNvSpPr/>
          <p:nvPr/>
        </p:nvSpPr>
        <p:spPr>
          <a:xfrm>
            <a:off x="7592991" y="2939971"/>
            <a:ext cx="1886674"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t>BUZZER</a:t>
            </a:r>
            <a:endParaRPr lang="en-IN" sz="2400" b="1" dirty="0"/>
          </a:p>
        </p:txBody>
      </p:sp>
      <p:sp>
        <p:nvSpPr>
          <p:cNvPr id="27" name="Rectangle 26">
            <a:extLst>
              <a:ext uri="{FF2B5EF4-FFF2-40B4-BE49-F238E27FC236}">
                <a16:creationId xmlns:a16="http://schemas.microsoft.com/office/drawing/2014/main" id="{DD52F431-E77D-C493-0577-A2CEAF73A1B4}"/>
              </a:ext>
            </a:extLst>
          </p:cNvPr>
          <p:cNvSpPr/>
          <p:nvPr/>
        </p:nvSpPr>
        <p:spPr>
          <a:xfrm>
            <a:off x="7633501" y="4366550"/>
            <a:ext cx="1990847" cy="914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400" b="1" dirty="0"/>
              <a:t>LED</a:t>
            </a:r>
            <a:endParaRPr lang="en-IN" sz="2400" b="1" dirty="0"/>
          </a:p>
        </p:txBody>
      </p:sp>
      <p:sp>
        <p:nvSpPr>
          <p:cNvPr id="29" name="Arrow: Right 28">
            <a:extLst>
              <a:ext uri="{FF2B5EF4-FFF2-40B4-BE49-F238E27FC236}">
                <a16:creationId xmlns:a16="http://schemas.microsoft.com/office/drawing/2014/main" id="{55796BA2-2C58-8EF6-C6D4-1F8C76BB1C7F}"/>
              </a:ext>
            </a:extLst>
          </p:cNvPr>
          <p:cNvSpPr/>
          <p:nvPr/>
        </p:nvSpPr>
        <p:spPr>
          <a:xfrm>
            <a:off x="3854369" y="2939970"/>
            <a:ext cx="925973" cy="339583"/>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1" name="Arrow: Right 30">
            <a:extLst>
              <a:ext uri="{FF2B5EF4-FFF2-40B4-BE49-F238E27FC236}">
                <a16:creationId xmlns:a16="http://schemas.microsoft.com/office/drawing/2014/main" id="{5BF9FF82-31F6-3CB8-42BE-7FD2517007C8}"/>
              </a:ext>
            </a:extLst>
          </p:cNvPr>
          <p:cNvSpPr/>
          <p:nvPr/>
        </p:nvSpPr>
        <p:spPr>
          <a:xfrm>
            <a:off x="3854369" y="3854371"/>
            <a:ext cx="966484" cy="373521"/>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2" name="Arrow: Right 31">
            <a:extLst>
              <a:ext uri="{FF2B5EF4-FFF2-40B4-BE49-F238E27FC236}">
                <a16:creationId xmlns:a16="http://schemas.microsoft.com/office/drawing/2014/main" id="{FEDFF7C4-DE7D-99F4-557A-D8583AD643C4}"/>
              </a:ext>
            </a:extLst>
          </p:cNvPr>
          <p:cNvSpPr/>
          <p:nvPr/>
        </p:nvSpPr>
        <p:spPr>
          <a:xfrm>
            <a:off x="3854369" y="4877163"/>
            <a:ext cx="966484" cy="373521"/>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3" name="Arrow: Left 32">
            <a:extLst>
              <a:ext uri="{FF2B5EF4-FFF2-40B4-BE49-F238E27FC236}">
                <a16:creationId xmlns:a16="http://schemas.microsoft.com/office/drawing/2014/main" id="{25CEA10D-5D40-5C80-3A31-2763A01684CF}"/>
              </a:ext>
            </a:extLst>
          </p:cNvPr>
          <p:cNvSpPr/>
          <p:nvPr/>
        </p:nvSpPr>
        <p:spPr>
          <a:xfrm>
            <a:off x="6667016" y="3194613"/>
            <a:ext cx="925975" cy="335666"/>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4" name="Arrow: Left 33">
            <a:extLst>
              <a:ext uri="{FF2B5EF4-FFF2-40B4-BE49-F238E27FC236}">
                <a16:creationId xmlns:a16="http://schemas.microsoft.com/office/drawing/2014/main" id="{87C46C31-A235-5884-628B-9CD02A648E04}"/>
              </a:ext>
            </a:extLst>
          </p:cNvPr>
          <p:cNvSpPr/>
          <p:nvPr/>
        </p:nvSpPr>
        <p:spPr>
          <a:xfrm flipV="1">
            <a:off x="6667017" y="4596297"/>
            <a:ext cx="966486" cy="335665"/>
          </a:xfrm>
          <a:prstGeom prst="lef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8962744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3E313F-D28A-48CA-913F-A57C656F1E25}"/>
              </a:ext>
            </a:extLst>
          </p:cNvPr>
          <p:cNvSpPr txBox="1"/>
          <p:nvPr/>
        </p:nvSpPr>
        <p:spPr>
          <a:xfrm>
            <a:off x="960699" y="694481"/>
            <a:ext cx="10648709" cy="707886"/>
          </a:xfrm>
          <a:prstGeom prst="rect">
            <a:avLst/>
          </a:prstGeom>
          <a:noFill/>
        </p:spPr>
        <p:txBody>
          <a:bodyPr wrap="square">
            <a:spAutoFit/>
          </a:bodyPr>
          <a:lstStyle/>
          <a:p>
            <a:pPr marL="342900" indent="-342900">
              <a:buFont typeface="Wingdings" panose="05000000000000000000" pitchFamily="2" charset="2"/>
              <a:buChar char="§"/>
            </a:pPr>
            <a:endParaRPr lang="en-US" sz="2000" dirty="0"/>
          </a:p>
          <a:p>
            <a:pPr marL="342900" indent="-342900">
              <a:buFont typeface="Wingdings" panose="05000000000000000000" pitchFamily="2" charset="2"/>
              <a:buChar char="§"/>
            </a:pPr>
            <a:endParaRPr lang="en-US" sz="2000" dirty="0"/>
          </a:p>
        </p:txBody>
      </p:sp>
      <p:sp>
        <p:nvSpPr>
          <p:cNvPr id="2" name="Title 1">
            <a:extLst>
              <a:ext uri="{FF2B5EF4-FFF2-40B4-BE49-F238E27FC236}">
                <a16:creationId xmlns:a16="http://schemas.microsoft.com/office/drawing/2014/main" id="{682FFE93-BB1A-52C6-85C5-3991213C1097}"/>
              </a:ext>
            </a:extLst>
          </p:cNvPr>
          <p:cNvSpPr>
            <a:spLocks noGrp="1"/>
          </p:cNvSpPr>
          <p:nvPr>
            <p:ph type="title"/>
          </p:nvPr>
        </p:nvSpPr>
        <p:spPr>
          <a:xfrm>
            <a:off x="81024" y="0"/>
            <a:ext cx="11191756" cy="843657"/>
          </a:xfrm>
        </p:spPr>
        <p:txBody>
          <a:bodyPr>
            <a:normAutofit/>
          </a:bodyPr>
          <a:lstStyle/>
          <a:p>
            <a:r>
              <a:rPr lang="en-US" sz="4000" b="1" dirty="0">
                <a:latin typeface="Times New Roman" panose="02020603050405020304" pitchFamily="18" charset="0"/>
                <a:cs typeface="Times New Roman" panose="02020603050405020304" pitchFamily="18" charset="0"/>
              </a:rPr>
              <a:t>Components:</a:t>
            </a:r>
            <a:endParaRPr lang="en-IN" sz="4000" b="1"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E3C8CEBC-35E4-4F45-1156-9A9275352FD7}"/>
              </a:ext>
            </a:extLst>
          </p:cNvPr>
          <p:cNvSpPr>
            <a:spLocks noGrp="1"/>
          </p:cNvSpPr>
          <p:nvPr>
            <p:ph idx="1"/>
          </p:nvPr>
        </p:nvSpPr>
        <p:spPr>
          <a:xfrm>
            <a:off x="242102" y="694481"/>
            <a:ext cx="7084673" cy="4903833"/>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NODE MCU:</a:t>
            </a:r>
          </a:p>
          <a:p>
            <a:pPr marL="0" indent="0">
              <a:buNone/>
            </a:pPr>
            <a:endParaRPr lang="en-US" b="1" dirty="0"/>
          </a:p>
        </p:txBody>
      </p:sp>
      <p:pic>
        <p:nvPicPr>
          <p:cNvPr id="2050" name="Picture 2" descr="nodemcu pins">
            <a:extLst>
              <a:ext uri="{FF2B5EF4-FFF2-40B4-BE49-F238E27FC236}">
                <a16:creationId xmlns:a16="http://schemas.microsoft.com/office/drawing/2014/main" id="{8A7DFE41-1BBC-BB2F-9804-5DC1110781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84915" y="289368"/>
            <a:ext cx="3864982" cy="372999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5">
            <a:extLst>
              <a:ext uri="{FF2B5EF4-FFF2-40B4-BE49-F238E27FC236}">
                <a16:creationId xmlns:a16="http://schemas.microsoft.com/office/drawing/2014/main" id="{CD277797-960B-6C77-CF93-5A65A425ADB2}"/>
              </a:ext>
            </a:extLst>
          </p:cNvPr>
          <p:cNvSpPr>
            <a:spLocks noChangeArrowheads="1"/>
          </p:cNvSpPr>
          <p:nvPr/>
        </p:nvSpPr>
        <p:spPr bwMode="auto">
          <a:xfrm>
            <a:off x="-81023" y="995424"/>
            <a:ext cx="8165939" cy="4352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NodeMCU ESP8266 acts as the central controller with built-in Wi-Fi for IoT connectivity.</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Connects to gas sensors ( MQ-2) to detect harmful gases like LPG, methane, and CO.</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Processes sensor data and compares it to safety thresholds.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Sends real-time alerts to mobile apps for remote monitoring.</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Offers a low-cost, scalable, and efficient solution for industrial safety automation.</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Rectangle 6">
            <a:extLst>
              <a:ext uri="{FF2B5EF4-FFF2-40B4-BE49-F238E27FC236}">
                <a16:creationId xmlns:a16="http://schemas.microsoft.com/office/drawing/2014/main" id="{A41723FD-B4B5-BF79-F7DD-24D045C6D374}"/>
              </a:ext>
            </a:extLst>
          </p:cNvPr>
          <p:cNvSpPr>
            <a:spLocks noChangeArrowheads="1"/>
          </p:cNvSpPr>
          <p:nvPr/>
        </p:nvSpPr>
        <p:spPr bwMode="auto">
          <a:xfrm flipH="1">
            <a:off x="81022" y="4837757"/>
            <a:ext cx="7708739" cy="1852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BUZZER:</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helps warn workers immediately about danger in the area.</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buzzer is controlled by NodeMCU based on gas sensor readings.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activates automatically when gas levels cross the safety limit.</a:t>
            </a:r>
          </a:p>
        </p:txBody>
      </p:sp>
      <p:pic>
        <p:nvPicPr>
          <p:cNvPr id="2056" name="Picture 8" descr="2 Pin Buzzer Pinout">
            <a:extLst>
              <a:ext uri="{FF2B5EF4-FFF2-40B4-BE49-F238E27FC236}">
                <a16:creationId xmlns:a16="http://schemas.microsoft.com/office/drawing/2014/main" id="{9D765EBC-11C2-445F-63EA-ADA3E9CEC3A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153" t="12301" r="11354" b="2441"/>
          <a:stretch>
            <a:fillRect/>
          </a:stretch>
        </p:blipFill>
        <p:spPr bwMode="auto">
          <a:xfrm>
            <a:off x="7950839" y="4308730"/>
            <a:ext cx="3658569" cy="23819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3029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9E8261-662E-23BD-B560-CA383B9C0CDD}"/>
              </a:ext>
            </a:extLst>
          </p:cNvPr>
          <p:cNvSpPr>
            <a:spLocks noGrp="1"/>
          </p:cNvSpPr>
          <p:nvPr>
            <p:ph type="title"/>
          </p:nvPr>
        </p:nvSpPr>
        <p:spPr>
          <a:xfrm>
            <a:off x="312516" y="-1608881"/>
            <a:ext cx="6886937" cy="7905509"/>
          </a:xfrm>
        </p:spPr>
        <p:txBody>
          <a:bodyPr>
            <a:normAutofit/>
          </a:bodyPr>
          <a:lstStyle/>
          <a:p>
            <a:br>
              <a:rPr lang="en-US" sz="2800" b="1" dirty="0">
                <a:latin typeface="Times New Roman" panose="02020603050405020304" pitchFamily="18" charset="0"/>
                <a:cs typeface="Times New Roman" panose="02020603050405020304" pitchFamily="18" charset="0"/>
              </a:rPr>
            </a:br>
            <a:endParaRPr lang="en-IN" sz="2800" b="1" dirty="0">
              <a:latin typeface="Times New Roman" panose="02020603050405020304" pitchFamily="18" charset="0"/>
              <a:cs typeface="Times New Roman" panose="02020603050405020304" pitchFamily="18" charset="0"/>
            </a:endParaRPr>
          </a:p>
        </p:txBody>
      </p:sp>
      <p:pic>
        <p:nvPicPr>
          <p:cNvPr id="3074" name="Picture 2" descr="DHT11 sensor showing its pin configuration">
            <a:extLst>
              <a:ext uri="{FF2B5EF4-FFF2-40B4-BE49-F238E27FC236}">
                <a16:creationId xmlns:a16="http://schemas.microsoft.com/office/drawing/2014/main" id="{6945FDC3-4CF1-5157-97BA-B86E65485BFB}"/>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3582" t="3862" r="4775" b="6409"/>
          <a:stretch>
            <a:fillRect/>
          </a:stretch>
        </p:blipFill>
        <p:spPr bwMode="auto">
          <a:xfrm>
            <a:off x="7905510" y="162046"/>
            <a:ext cx="3553428" cy="311455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a:extLst>
              <a:ext uri="{FF2B5EF4-FFF2-40B4-BE49-F238E27FC236}">
                <a16:creationId xmlns:a16="http://schemas.microsoft.com/office/drawing/2014/main" id="{477A61BB-E8CE-A1A6-068C-8EE15B27DFC3}"/>
              </a:ext>
            </a:extLst>
          </p:cNvPr>
          <p:cNvSpPr>
            <a:spLocks noChangeArrowheads="1"/>
          </p:cNvSpPr>
          <p:nvPr/>
        </p:nvSpPr>
        <p:spPr bwMode="auto">
          <a:xfrm>
            <a:off x="219918" y="-26400"/>
            <a:ext cx="7966511" cy="637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DHT11 SENSOR:</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Measures temperature and humidity in the environment.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monitor climatic conditions around gas leakage zones.</a:t>
            </a:r>
          </a:p>
          <a:p>
            <a:pPr marL="342900" lvl="0" indent="-342900" eaLnBrk="0" fontAlgn="base" hangingPunct="0">
              <a:lnSpc>
                <a:spcPct val="150000"/>
              </a:lnSpc>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It works with NodeMCU to collect climate data along with gas levels.</a:t>
            </a:r>
          </a:p>
          <a:p>
            <a:pPr marL="342900" lvl="0" indent="-342900" eaLnBrk="0" fontAlgn="base" hangingPunct="0">
              <a:lnSpc>
                <a:spcPct val="150000"/>
              </a:lnSpc>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 Helps detect heat buildup or fire-prone conditions near gas leaks.</a:t>
            </a:r>
          </a:p>
          <a:p>
            <a:pPr marL="342900" lvl="0" indent="-342900" eaLnBrk="0" fontAlgn="base" hangingPunct="0">
              <a:lnSpc>
                <a:spcPct val="150000"/>
              </a:lnSpc>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Supports automated safety actions like turning on fans or alarms</a:t>
            </a:r>
            <a:r>
              <a:rPr lang="en-US" altLang="en-US" sz="2000" dirty="0">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2800" b="1" dirty="0">
                <a:latin typeface="Times New Roman" panose="02020603050405020304" pitchFamily="18" charset="0"/>
                <a:cs typeface="Times New Roman" panose="02020603050405020304" pitchFamily="18" charset="0"/>
              </a:rPr>
              <a:t>GAS SENSOR:</a:t>
            </a:r>
          </a:p>
          <a:p>
            <a:pPr marL="0" marR="0" lvl="0" indent="0" algn="l" defTabSz="914400" rtl="0" eaLnBrk="0" fontAlgn="base" latinLnBrk="0" hangingPunct="0">
              <a:lnSpc>
                <a:spcPct val="100000"/>
              </a:lnSpc>
              <a:spcBef>
                <a:spcPct val="0"/>
              </a:spcBef>
              <a:spcAft>
                <a:spcPct val="0"/>
              </a:spcAft>
              <a:buClrTx/>
              <a:buSzTx/>
              <a:tabLst/>
            </a:pPr>
            <a:endParaRPr lang="en-US" altLang="en-US" sz="28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8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8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8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lang="en-US" altLang="en-US" sz="28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Rectangle 6">
            <a:extLst>
              <a:ext uri="{FF2B5EF4-FFF2-40B4-BE49-F238E27FC236}">
                <a16:creationId xmlns:a16="http://schemas.microsoft.com/office/drawing/2014/main" id="{E10C0010-D99A-83C3-0967-D575FF58740B}"/>
              </a:ext>
            </a:extLst>
          </p:cNvPr>
          <p:cNvSpPr>
            <a:spLocks noChangeArrowheads="1"/>
          </p:cNvSpPr>
          <p:nvPr/>
        </p:nvSpPr>
        <p:spPr bwMode="auto">
          <a:xfrm>
            <a:off x="219919" y="3712992"/>
            <a:ext cx="805910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gas sensor can detect harmful gases like LPG, methane, and carbon monoxide.</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sends gas level data to a microcontroller like NodeMCU.</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the gas level is too high, the system turns on alarms or fans.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works with Wi-Fi to send alerts to mobile apps or cloud platforms.</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can shut down machines automatically for safety.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AutoShape 8" descr="MQ-2 Smoke/Gas Sensor: Datasheet, Pinout &amp; Working - The Engineering  Projects">
            <a:extLst>
              <a:ext uri="{FF2B5EF4-FFF2-40B4-BE49-F238E27FC236}">
                <a16:creationId xmlns:a16="http://schemas.microsoft.com/office/drawing/2014/main" id="{F8472F62-5121-9B51-A0E4-4DFBC300F88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 name="AutoShape 10" descr="MQ-2 Smoke/Gas Sensor: Datasheet, Pinout &amp; Working - The Engineering  Projects">
            <a:extLst>
              <a:ext uri="{FF2B5EF4-FFF2-40B4-BE49-F238E27FC236}">
                <a16:creationId xmlns:a16="http://schemas.microsoft.com/office/drawing/2014/main" id="{411F0AFA-15F8-86D3-C22E-2CA7C8E5BFE1}"/>
              </a:ext>
            </a:extLst>
          </p:cNvPr>
          <p:cNvSpPr>
            <a:spLocks noChangeAspect="1" noChangeArrowheads="1"/>
          </p:cNvSpPr>
          <p:nvPr/>
        </p:nvSpPr>
        <p:spPr bwMode="auto">
          <a:xfrm>
            <a:off x="7546692" y="3581400"/>
            <a:ext cx="4201611" cy="280405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084" name="Picture 12" descr="Pinout of MQ2 gas sensor module.">
            <a:extLst>
              <a:ext uri="{FF2B5EF4-FFF2-40B4-BE49-F238E27FC236}">
                <a16:creationId xmlns:a16="http://schemas.microsoft.com/office/drawing/2014/main" id="{CB58595A-C608-AE95-FA8C-B05D5E71C34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84" t="-1" r="-3284" b="10477"/>
          <a:stretch>
            <a:fillRect/>
          </a:stretch>
        </p:blipFill>
        <p:spPr bwMode="auto">
          <a:xfrm>
            <a:off x="7674015" y="3758598"/>
            <a:ext cx="4097437" cy="2626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9630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5DA437-DF5B-3033-B454-0F4A98A6BD22}"/>
              </a:ext>
            </a:extLst>
          </p:cNvPr>
          <p:cNvSpPr>
            <a:spLocks noGrp="1"/>
          </p:cNvSpPr>
          <p:nvPr>
            <p:ph type="title"/>
          </p:nvPr>
        </p:nvSpPr>
        <p:spPr>
          <a:xfrm>
            <a:off x="838200" y="185195"/>
            <a:ext cx="10515600" cy="625033"/>
          </a:xfrm>
        </p:spPr>
        <p:txBody>
          <a:bodyPr>
            <a:normAutofit/>
          </a:bodyPr>
          <a:lstStyle/>
          <a:p>
            <a:r>
              <a:rPr lang="en-US" sz="2800" b="1" dirty="0">
                <a:latin typeface="Times New Roman" panose="02020603050405020304" pitchFamily="18" charset="0"/>
                <a:cs typeface="Times New Roman" panose="02020603050405020304" pitchFamily="18" charset="0"/>
              </a:rPr>
              <a:t>FIRE SENSOR:</a:t>
            </a:r>
          </a:p>
        </p:txBody>
      </p:sp>
      <p:sp>
        <p:nvSpPr>
          <p:cNvPr id="6" name="Rectangle 1">
            <a:extLst>
              <a:ext uri="{FF2B5EF4-FFF2-40B4-BE49-F238E27FC236}">
                <a16:creationId xmlns:a16="http://schemas.microsoft.com/office/drawing/2014/main" id="{5E0F823C-D80C-0565-118F-ED16F82A646D}"/>
              </a:ext>
            </a:extLst>
          </p:cNvPr>
          <p:cNvSpPr>
            <a:spLocks noGrp="1" noChangeArrowheads="1"/>
          </p:cNvSpPr>
          <p:nvPr>
            <p:ph idx="1"/>
          </p:nvPr>
        </p:nvSpPr>
        <p:spPr bwMode="auto">
          <a:xfrm>
            <a:off x="150471" y="648082"/>
            <a:ext cx="817172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fire sensor detects flames or sudden heat in the environment.</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works with NodeMCU to monitor fire risks along with gas leaks.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If fire is detected, the system activates alarms and safety devices.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Sends instant alerts to mobile apps or cloud platforms via Wi-Fi.</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Helps in quick response and remote monitoring during emergencies.</a:t>
            </a:r>
          </a:p>
          <a:p>
            <a:pPr marL="0" marR="0" lvl="0" indent="0" algn="l" defTabSz="914400" rtl="0" eaLnBrk="0" fontAlgn="base" latinLnBrk="0" hangingPunct="0">
              <a:lnSpc>
                <a:spcPct val="150000"/>
              </a:lnSpc>
              <a:spcBef>
                <a:spcPct val="0"/>
              </a:spcBef>
              <a:spcAft>
                <a:spcPct val="0"/>
              </a:spcAft>
              <a:buClrTx/>
              <a:buSzTx/>
              <a:buNone/>
              <a:tabLst/>
            </a:pPr>
            <a:endParaRPr lang="en-US" altLang="en-US"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None/>
              <a:tabLst/>
            </a:pPr>
            <a:endPar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CE1F02CA-A529-394C-B552-F75850747F97}"/>
              </a:ext>
            </a:extLst>
          </p:cNvPr>
          <p:cNvSpPr>
            <a:spLocks noChangeArrowheads="1"/>
          </p:cNvSpPr>
          <p:nvPr/>
        </p:nvSpPr>
        <p:spPr bwMode="auto">
          <a:xfrm>
            <a:off x="324091" y="3264237"/>
            <a:ext cx="7766613" cy="2991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IN" sz="2800" b="1" dirty="0"/>
              <a:t>   </a:t>
            </a:r>
            <a:r>
              <a:rPr lang="en-IN" sz="2800" b="1" dirty="0">
                <a:latin typeface="Times New Roman" panose="02020603050405020304" pitchFamily="18" charset="0"/>
                <a:cs typeface="Times New Roman" panose="02020603050405020304" pitchFamily="18" charset="0"/>
              </a:rPr>
              <a:t>LED(Light Emitting Diode):</a:t>
            </a:r>
            <a:endPar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LEDs help workers quickly understand danger levels without checking a screen.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LED is controlled by NodeMCU based on sensor readings.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works with other safety devices like buzzers and fans for alerts.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LED status can match alerts sent to mobile apps or cloud platforms.</a:t>
            </a:r>
          </a:p>
        </p:txBody>
      </p:sp>
      <p:pic>
        <p:nvPicPr>
          <p:cNvPr id="4102" name="Picture 6" descr="Flame Sensor Interfacing with 8051">
            <a:extLst>
              <a:ext uri="{FF2B5EF4-FFF2-40B4-BE49-F238E27FC236}">
                <a16:creationId xmlns:a16="http://schemas.microsoft.com/office/drawing/2014/main" id="{6E50882C-969A-5104-CC5D-E2B5EC2AA5B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746" t="3563" r="70201" b="5080"/>
          <a:stretch>
            <a:fillRect/>
          </a:stretch>
        </p:blipFill>
        <p:spPr bwMode="auto">
          <a:xfrm>
            <a:off x="8778433" y="300788"/>
            <a:ext cx="1965767" cy="2963449"/>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How To Build RGB LED using Arduino Uno — Microdaz Blog | by Ivan June |  Medium">
            <a:extLst>
              <a:ext uri="{FF2B5EF4-FFF2-40B4-BE49-F238E27FC236}">
                <a16:creationId xmlns:a16="http://schemas.microsoft.com/office/drawing/2014/main" id="{C9E40B31-1311-E13A-8568-343A62CF38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90704" y="3865944"/>
            <a:ext cx="3777205" cy="28068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3624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3642F-6C88-67CE-641F-10F5DCC1DCD0}"/>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Working principle:</a:t>
            </a:r>
          </a:p>
        </p:txBody>
      </p:sp>
      <p:sp>
        <p:nvSpPr>
          <p:cNvPr id="4" name="Rectangle 1">
            <a:extLst>
              <a:ext uri="{FF2B5EF4-FFF2-40B4-BE49-F238E27FC236}">
                <a16:creationId xmlns:a16="http://schemas.microsoft.com/office/drawing/2014/main" id="{67355348-D645-269B-A195-C7B0B28CBF71}"/>
              </a:ext>
            </a:extLst>
          </p:cNvPr>
          <p:cNvSpPr>
            <a:spLocks noGrp="1" noChangeArrowheads="1"/>
          </p:cNvSpPr>
          <p:nvPr>
            <p:ph idx="1"/>
          </p:nvPr>
        </p:nvSpPr>
        <p:spPr bwMode="auto">
          <a:xfrm>
            <a:off x="951470" y="1487982"/>
            <a:ext cx="9069859" cy="38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Gas Sensors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Threshold Detection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Alerts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Automated Shutdown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Monitoring</a:t>
            </a:r>
          </a:p>
          <a:p>
            <a:pPr marL="0" marR="0" lvl="0" indent="0" algn="l" defTabSz="914400" rtl="0" eaLnBrk="0" fontAlgn="base" latinLnBrk="0" hangingPunct="0">
              <a:lnSpc>
                <a:spcPct val="150000"/>
              </a:lnSpc>
              <a:spcBef>
                <a:spcPct val="0"/>
              </a:spcBef>
              <a:spcAft>
                <a:spcPct val="0"/>
              </a:spcAft>
              <a:buClrTx/>
              <a:buSzTx/>
              <a:buFontTx/>
              <a:buChar char="•"/>
              <a:tabLst/>
            </a:pPr>
            <a:r>
              <a:rPr lang="en-US" altLang="en-US" sz="2000" dirty="0">
                <a:latin typeface="Times New Roman" panose="02020603050405020304" pitchFamily="18" charset="0"/>
                <a:cs typeface="Times New Roman" panose="02020603050405020304" pitchFamily="18" charset="0"/>
              </a:rPr>
              <a:t>WirelessTransmission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Emergency protocols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780886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658A5-91DF-4578-3BF8-D7B412E8F435}"/>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Applications: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50E9E51-9851-0A16-FAC5-FF211EB50AA1}"/>
              </a:ext>
            </a:extLst>
          </p:cNvPr>
          <p:cNvSpPr>
            <a:spLocks noGrp="1"/>
          </p:cNvSpPr>
          <p:nvPr>
            <p:ph idx="1"/>
          </p:nvPr>
        </p:nvSpPr>
        <p:spPr>
          <a:xfrm>
            <a:off x="752354" y="1493134"/>
            <a:ext cx="10601446" cy="4683829"/>
          </a:xfrm>
        </p:spPr>
        <p:txBody>
          <a:bodyPr>
            <a:normAutofit/>
          </a:bodyPr>
          <a:lstStyle/>
          <a:p>
            <a:pPr>
              <a:lnSpc>
                <a:spcPct val="150000"/>
              </a:lnSpc>
            </a:pPr>
            <a:r>
              <a:rPr lang="en-IN" sz="2000" dirty="0">
                <a:latin typeface="Times New Roman" panose="02020603050405020304" pitchFamily="18" charset="0"/>
                <a:cs typeface="Times New Roman" panose="02020603050405020304" pitchFamily="18" charset="0"/>
              </a:rPr>
              <a:t>Automated Safety System</a:t>
            </a:r>
          </a:p>
          <a:p>
            <a:pPr>
              <a:lnSpc>
                <a:spcPct val="150000"/>
              </a:lnSpc>
            </a:pPr>
            <a:r>
              <a:rPr lang="en-IN" sz="2000" dirty="0">
                <a:latin typeface="Times New Roman" panose="02020603050405020304" pitchFamily="18" charset="0"/>
                <a:cs typeface="Times New Roman" panose="02020603050405020304" pitchFamily="18" charset="0"/>
              </a:rPr>
              <a:t>Real-time Monitoring</a:t>
            </a:r>
          </a:p>
          <a:p>
            <a:pPr>
              <a:lnSpc>
                <a:spcPct val="150000"/>
              </a:lnSpc>
            </a:pPr>
            <a:r>
              <a:rPr lang="en-IN" sz="2000" dirty="0">
                <a:latin typeface="Times New Roman" panose="02020603050405020304" pitchFamily="18" charset="0"/>
                <a:cs typeface="Times New Roman" panose="02020603050405020304" pitchFamily="18" charset="0"/>
              </a:rPr>
              <a:t>Data Transmission</a:t>
            </a:r>
          </a:p>
          <a:p>
            <a:pPr>
              <a:lnSpc>
                <a:spcPct val="150000"/>
              </a:lnSpc>
            </a:pPr>
            <a:r>
              <a:rPr lang="en-IN" sz="2000" dirty="0">
                <a:latin typeface="Times New Roman" panose="02020603050405020304" pitchFamily="18" charset="0"/>
                <a:cs typeface="Times New Roman" panose="02020603050405020304" pitchFamily="18" charset="0"/>
              </a:rPr>
              <a:t>Alert Notification</a:t>
            </a:r>
          </a:p>
          <a:p>
            <a:pPr>
              <a:lnSpc>
                <a:spcPct val="150000"/>
              </a:lnSpc>
            </a:pPr>
            <a:r>
              <a:rPr lang="en-IN" sz="2000" dirty="0">
                <a:latin typeface="Times New Roman" panose="02020603050405020304" pitchFamily="18" charset="0"/>
                <a:cs typeface="Times New Roman" panose="02020603050405020304" pitchFamily="18" charset="0"/>
              </a:rPr>
              <a:t>Environmental Safety</a:t>
            </a:r>
          </a:p>
          <a:p>
            <a:pPr>
              <a:lnSpc>
                <a:spcPct val="150000"/>
              </a:lnSpc>
            </a:pPr>
            <a:r>
              <a:rPr lang="en-IN" sz="2000" dirty="0">
                <a:latin typeface="Times New Roman" panose="02020603050405020304" pitchFamily="18" charset="0"/>
                <a:cs typeface="Times New Roman" panose="02020603050405020304" pitchFamily="18" charset="0"/>
              </a:rPr>
              <a:t>Industrial Automation</a:t>
            </a:r>
          </a:p>
          <a:p>
            <a:pPr>
              <a:lnSpc>
                <a:spcPct val="150000"/>
              </a:lnSpc>
            </a:pPr>
            <a:r>
              <a:rPr lang="en-IN" sz="2000" dirty="0">
                <a:latin typeface="Times New Roman" panose="02020603050405020304" pitchFamily="18" charset="0"/>
                <a:cs typeface="Times New Roman" panose="02020603050405020304" pitchFamily="18" charset="0"/>
              </a:rPr>
              <a:t>Temperature and Humidity Monitoring</a:t>
            </a:r>
          </a:p>
          <a:p>
            <a:pPr>
              <a:lnSpc>
                <a:spcPct val="150000"/>
              </a:lnSpc>
            </a:pPr>
            <a:r>
              <a:rPr lang="en-IN" sz="2000" dirty="0">
                <a:latin typeface="Times New Roman" panose="02020603050405020304" pitchFamily="18" charset="0"/>
                <a:cs typeface="Times New Roman" panose="02020603050405020304" pitchFamily="18" charset="0"/>
              </a:rPr>
              <a:t>Wireless Communication</a:t>
            </a:r>
          </a:p>
          <a:p>
            <a:pPr marL="0" indent="0">
              <a:buNone/>
            </a:pPr>
            <a:endParaRPr lang="en-IN" dirty="0"/>
          </a:p>
        </p:txBody>
      </p:sp>
    </p:spTree>
    <p:extLst>
      <p:ext uri="{BB962C8B-B14F-4D97-AF65-F5344CB8AC3E}">
        <p14:creationId xmlns:p14="http://schemas.microsoft.com/office/powerpoint/2010/main" val="2402336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6E0CAB-920A-A4A3-0ED3-12B68102E133}"/>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Advantages:</a:t>
            </a:r>
            <a:endParaRPr lang="en-IN" sz="4000" b="1"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4A1D6F61-BCEF-DB4E-1A9B-2C984935A995}"/>
              </a:ext>
            </a:extLst>
          </p:cNvPr>
          <p:cNvSpPr>
            <a:spLocks noGrp="1" noChangeArrowheads="1"/>
          </p:cNvSpPr>
          <p:nvPr>
            <p:ph idx="1"/>
          </p:nvPr>
        </p:nvSpPr>
        <p:spPr bwMode="auto">
          <a:xfrm>
            <a:off x="1013254" y="1580722"/>
            <a:ext cx="7970108"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Early gas leakage detection</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safety response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IoT monitoring</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Worker and environmental safety</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Remote alert system</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Low-cost and energy-efficient</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Scalable and flexible design</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Supports industrial automation</a:t>
            </a:r>
          </a:p>
        </p:txBody>
      </p:sp>
    </p:spTree>
    <p:extLst>
      <p:ext uri="{BB962C8B-B14F-4D97-AF65-F5344CB8AC3E}">
        <p14:creationId xmlns:p14="http://schemas.microsoft.com/office/powerpoint/2010/main" val="2759840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BD8F32-6A02-5927-22F1-CA742F2FDE73}"/>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Conclusion:</a:t>
            </a:r>
          </a:p>
        </p:txBody>
      </p:sp>
      <p:sp>
        <p:nvSpPr>
          <p:cNvPr id="5" name="Content Placeholder 4">
            <a:extLst>
              <a:ext uri="{FF2B5EF4-FFF2-40B4-BE49-F238E27FC236}">
                <a16:creationId xmlns:a16="http://schemas.microsoft.com/office/drawing/2014/main" id="{564E6ED4-EADF-7FA9-B7E7-B3F37FE3F78C}"/>
              </a:ext>
            </a:extLst>
          </p:cNvPr>
          <p:cNvSpPr>
            <a:spLocks noGrp="1"/>
          </p:cNvSpPr>
          <p:nvPr>
            <p:ph idx="1"/>
          </p:nvPr>
        </p:nvSpPr>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The Smart Industrial Harmful Gas Leakage Detection and Automated Safety Response System provides an effective and reliable way to ensure industrial safety. It detects harmful gas leaks at an early stage and automatically activates safety measures such as buzzer alarms, LED indicators.This system helps reduce accidents, protect workers, and prevent environmental damage. It demonstrates how automation and IoT can improve industrial safety and efficiency. Overall, it is a cost-effective, smart, and scalable solution for modern industrial environments.</a:t>
            </a:r>
          </a:p>
          <a:p>
            <a:pPr marL="0" indent="0">
              <a:buNone/>
            </a:pPr>
            <a:endParaRPr lang="en-IN" dirty="0"/>
          </a:p>
        </p:txBody>
      </p:sp>
    </p:spTree>
    <p:extLst>
      <p:ext uri="{BB962C8B-B14F-4D97-AF65-F5344CB8AC3E}">
        <p14:creationId xmlns:p14="http://schemas.microsoft.com/office/powerpoint/2010/main" val="486311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923FE-4005-3F27-6908-58FA7FAB5F67}"/>
              </a:ext>
            </a:extLst>
          </p:cNvPr>
          <p:cNvSpPr>
            <a:spLocks noGrp="1"/>
          </p:cNvSpPr>
          <p:nvPr>
            <p:ph type="title"/>
          </p:nvPr>
        </p:nvSpPr>
        <p:spPr/>
        <p:txBody>
          <a:bodyPr>
            <a:normAutofit/>
          </a:bodyPr>
          <a:lstStyle/>
          <a:p>
            <a:r>
              <a:rPr lang="en-IN" sz="4000" b="1" dirty="0">
                <a:latin typeface="Times New Roman" panose="02020603050405020304" pitchFamily="18" charset="0"/>
                <a:cs typeface="Times New Roman" panose="02020603050405020304" pitchFamily="18" charset="0"/>
              </a:rPr>
              <a:t>Future Scope:</a:t>
            </a:r>
          </a:p>
        </p:txBody>
      </p:sp>
      <p:sp>
        <p:nvSpPr>
          <p:cNvPr id="4" name="Rectangle 1">
            <a:extLst>
              <a:ext uri="{FF2B5EF4-FFF2-40B4-BE49-F238E27FC236}">
                <a16:creationId xmlns:a16="http://schemas.microsoft.com/office/drawing/2014/main" id="{7048AB6C-B65C-A35B-207F-BB1D17DA1E67}"/>
              </a:ext>
            </a:extLst>
          </p:cNvPr>
          <p:cNvSpPr>
            <a:spLocks noGrp="1" noChangeArrowheads="1"/>
          </p:cNvSpPr>
          <p:nvPr>
            <p:ph idx="1"/>
          </p:nvPr>
        </p:nvSpPr>
        <p:spPr bwMode="auto">
          <a:xfrm>
            <a:off x="729050" y="1667371"/>
            <a:ext cx="9724766"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app integration</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SMS and email alerts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AI-based leak prediction</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Multi-sensor network</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Battery backup system</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ventilation control</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data analytics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Fire suppression integration</a:t>
            </a:r>
          </a:p>
        </p:txBody>
      </p:sp>
    </p:spTree>
    <p:extLst>
      <p:ext uri="{BB962C8B-B14F-4D97-AF65-F5344CB8AC3E}">
        <p14:creationId xmlns:p14="http://schemas.microsoft.com/office/powerpoint/2010/main" val="18573701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447CA-A916-4ABB-2B26-1B3B7C77CDAE}"/>
              </a:ext>
            </a:extLst>
          </p:cNvPr>
          <p:cNvSpPr>
            <a:spLocks noGrp="1"/>
          </p:cNvSpPr>
          <p:nvPr>
            <p:ph type="title"/>
          </p:nvPr>
        </p:nvSpPr>
        <p:spPr>
          <a:xfrm>
            <a:off x="838200" y="365125"/>
            <a:ext cx="10515600" cy="1325563"/>
          </a:xfrm>
        </p:spPr>
        <p:txBody>
          <a:bodyPr>
            <a:normAutofit/>
          </a:bodyPr>
          <a:lstStyle/>
          <a:p>
            <a:r>
              <a:rPr lang="en-IN" sz="4000" b="1" dirty="0">
                <a:latin typeface="Times New Roman" panose="02020603050405020304" pitchFamily="18" charset="0"/>
                <a:cs typeface="Times New Roman" panose="02020603050405020304" pitchFamily="18" charset="0"/>
              </a:rPr>
              <a:t>References:</a:t>
            </a:r>
          </a:p>
        </p:txBody>
      </p:sp>
      <p:sp>
        <p:nvSpPr>
          <p:cNvPr id="4" name="Rectangle 1">
            <a:extLst>
              <a:ext uri="{FF2B5EF4-FFF2-40B4-BE49-F238E27FC236}">
                <a16:creationId xmlns:a16="http://schemas.microsoft.com/office/drawing/2014/main" id="{5BFDD681-E630-334C-FEF3-1BE20D59C450}"/>
              </a:ext>
            </a:extLst>
          </p:cNvPr>
          <p:cNvSpPr>
            <a:spLocks noGrp="1" noChangeArrowheads="1"/>
          </p:cNvSpPr>
          <p:nvPr>
            <p:ph idx="1"/>
          </p:nvPr>
        </p:nvSpPr>
        <p:spPr bwMode="auto">
          <a:xfrm>
            <a:off x="838199" y="1507525"/>
            <a:ext cx="10515600" cy="2823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C. Gonzalez, R. E. Woods, </a:t>
            </a:r>
            <a:r>
              <a:rPr kumimoji="0" lang="en-US" altLang="en-US" sz="20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Digital Image Processing</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4th Edition, Pearson, 2018. </a:t>
            </a:r>
            <a:r>
              <a:rPr kumimoji="0" lang="en-US" altLang="en-US" sz="20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sensor data visualization concepts if needed)</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K. Ray, </a:t>
            </a:r>
            <a:r>
              <a:rPr kumimoji="0" lang="en-US" altLang="en-US" sz="20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Industrial Safety and Hazard Management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McGraw-Hill, 2017.</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 K. Singh, </a:t>
            </a:r>
            <a:r>
              <a:rPr kumimoji="0" lang="en-US" altLang="en-US" sz="20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 Based Industrial Automation</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International Journal of Advanced Research in Electrical, Electronics and Instrumentation Engineering, 2019.</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Kumar, </a:t>
            </a:r>
            <a:r>
              <a:rPr kumimoji="0" lang="en-US" altLang="en-US" sz="200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Smart Gas Leakage Detection System using IoT</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IEEE Conference, 2020.</a:t>
            </a:r>
          </a:p>
        </p:txBody>
      </p:sp>
    </p:spTree>
    <p:extLst>
      <p:ext uri="{BB962C8B-B14F-4D97-AF65-F5344CB8AC3E}">
        <p14:creationId xmlns:p14="http://schemas.microsoft.com/office/powerpoint/2010/main" val="1641773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Quotation – PRS Labs">
            <a:extLst>
              <a:ext uri="{FF2B5EF4-FFF2-40B4-BE49-F238E27FC236}">
                <a16:creationId xmlns:a16="http://schemas.microsoft.com/office/drawing/2014/main" id="{CE299B76-5E7A-96C4-5BD0-28D595C609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269" y="407773"/>
            <a:ext cx="11182865" cy="6153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5229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179+ Thousand Thank You Graphics Royalty-Free Images, Stock Photos &amp;  Pictures | Shutterstock">
            <a:extLst>
              <a:ext uri="{FF2B5EF4-FFF2-40B4-BE49-F238E27FC236}">
                <a16:creationId xmlns:a16="http://schemas.microsoft.com/office/drawing/2014/main" id="{90492A1D-E52B-1232-C7C8-2CAAAFD631E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6070"/>
          <a:stretch>
            <a:fillRect/>
          </a:stretch>
        </p:blipFill>
        <p:spPr bwMode="auto">
          <a:xfrm>
            <a:off x="0" y="815975"/>
            <a:ext cx="12192000" cy="4386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73311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599</TotalTime>
  <Words>938</Words>
  <Application>Microsoft Office PowerPoint</Application>
  <PresentationFormat>Widescreen</PresentationFormat>
  <Paragraphs>138</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Arial</vt:lpstr>
      <vt:lpstr>Calibri</vt:lpstr>
      <vt:lpstr>Calibri Light</vt:lpstr>
      <vt:lpstr>Times New Roman</vt:lpstr>
      <vt:lpstr>Wingdings</vt:lpstr>
      <vt:lpstr>Office Theme</vt:lpstr>
      <vt:lpstr>A MAJOR PROJECT PRESENTATION  ON </vt:lpstr>
      <vt:lpstr>Contents:</vt:lpstr>
      <vt:lpstr>Abstract:</vt:lpstr>
      <vt:lpstr>Existing System: </vt:lpstr>
      <vt:lpstr>Proposed system:</vt:lpstr>
      <vt:lpstr>Block diagram:</vt:lpstr>
      <vt:lpstr>Components:</vt:lpstr>
      <vt:lpstr> </vt:lpstr>
      <vt:lpstr>FIRE SENSOR:</vt:lpstr>
      <vt:lpstr>Working principle:</vt:lpstr>
      <vt:lpstr>Applications:</vt:lpstr>
      <vt:lpstr>Advantages:</vt:lpstr>
      <vt:lpstr>Conclusion:</vt:lpstr>
      <vt:lpstr>Future Scope:</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ramyasrianumala@gmail.com</dc:creator>
  <cp:lastModifiedBy>ramyasrianumala@gmail.com</cp:lastModifiedBy>
  <cp:revision>12</cp:revision>
  <dcterms:created xsi:type="dcterms:W3CDTF">2025-10-09T17:39:13Z</dcterms:created>
  <dcterms:modified xsi:type="dcterms:W3CDTF">2025-11-14T06:50:47Z</dcterms:modified>
</cp:coreProperties>
</file>